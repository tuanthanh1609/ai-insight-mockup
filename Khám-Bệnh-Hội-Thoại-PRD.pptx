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1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3401"/>
          </a:xfrm>
          <a:prstGeom prst="rect">
            <a:avLst/>
          </a:prstGeom>
          <a:solidFill>
            <a:srgbClr val="BF300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634901"/>
            <a:ext cx="78741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1200"/>
              </a:spcAft>
              <a:buNone/>
            </a:pPr>
            <a:r>
              <a:rPr lang="en-US" sz="900" b="1" dirty="0">
                <a:solidFill>
                  <a:srgbClr val="BF30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SMAX AI DIAGNOSTICS MODULE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34901" y="920651"/>
            <a:ext cx="7874198" cy="894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20"/>
              </a:lnSpc>
              <a:spcAft>
                <a:spcPts val="1000"/>
              </a:spcAft>
              <a:buNone/>
            </a:pPr>
            <a:r>
              <a:rPr lang="en-US" sz="3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Khám Bệnh</a:t>
            </a:r>
            <a:endParaRPr lang="en-US" sz="3200" dirty="0"/>
          </a:p>
          <a:p>
            <a:pPr algn="l" indent="0" marL="0">
              <a:lnSpc>
                <a:spcPts val="3520"/>
              </a:lnSpc>
              <a:spcAft>
                <a:spcPts val="1000"/>
              </a:spcAft>
              <a:buNone/>
            </a:pPr>
            <a:r>
              <a:rPr lang="en-US" sz="3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Hội Thoại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34901" y="1941761"/>
            <a:ext cx="787419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Aft>
                <a:spcPts val="1400"/>
              </a:spcAft>
              <a:buNone/>
            </a:pPr>
            <a:r>
              <a:rPr lang="en-US" sz="1100" dirty="0">
                <a:solidFill>
                  <a:srgbClr val="8BA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phân tích hội thoại đa kênh → Chẩn đoán 9 nhóm vấn đề → Gợi ý hành động khắc phục từ Chuyên gia Smax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34901" y="2329011"/>
            <a:ext cx="634901" cy="38100"/>
          </a:xfrm>
          <a:prstGeom prst="rect">
            <a:avLst/>
          </a:prstGeom>
          <a:solidFill>
            <a:srgbClr val="BF300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34901" y="2494062"/>
            <a:ext cx="787419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A5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PRD V1.1  ·  2026-03-27  ·  DESIGN: EDITORIAL PRECISION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969347" y="507950"/>
            <a:ext cx="2539752" cy="4000649"/>
          </a:xfrm>
          <a:prstGeom prst="roundRect">
            <a:avLst>
              <a:gd name="adj" fmla="val 4000"/>
            </a:avLst>
          </a:prstGeom>
          <a:solidFill>
            <a:srgbClr val="0D15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762452" y="1914674"/>
            <a:ext cx="95339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5400" b="1" dirty="0">
                <a:solidFill>
                  <a:srgbClr val="BF30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6.4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6661100" y="2651224"/>
            <a:ext cx="115609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8BA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ĐIỂM SỨC KHỎE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846838" y="2917775"/>
            <a:ext cx="78462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4A5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Hồ sơ bệnh án mẫu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0" y="4572298"/>
            <a:ext cx="9144000" cy="571202"/>
          </a:xfrm>
          <a:prstGeom prst="rect">
            <a:avLst/>
          </a:prstGeom>
          <a:solidFill>
            <a:srgbClr val="0D15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34901" y="4819799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BF300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74502" y="4800749"/>
            <a:ext cx="59278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4A5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nhóm bệnh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544985" y="4819799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0052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684586" y="4800749"/>
            <a:ext cx="78462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4A5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Gamification loop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646908" y="4819799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786509" y="4800749"/>
            <a:ext cx="37817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4A5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Smax AI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419100"/>
          </a:xfrm>
          <a:prstGeom prst="rect">
            <a:avLst/>
          </a:prstGeom>
          <a:solidFill>
            <a:srgbClr val="1A21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152400"/>
            <a:ext cx="787419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BF30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VẤN ĐỀ THỊ TRƯỜNG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34901" y="698302"/>
            <a:ext cx="38354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BF30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THỰC TRẠNG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34901" y="888802"/>
            <a:ext cx="38354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 của bạn đang mất khách — nhưng không biết ở đâu?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34901" y="1466552"/>
            <a:ext cx="38354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1200"/>
              </a:spcAft>
              <a:buNone/>
            </a:pPr>
            <a:r>
              <a:rPr lang="en-US" sz="900" dirty="0">
                <a:solidFill>
                  <a:srgbClr val="3A3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Doanh nghiệp Việt Nam chi hàng tỷ đồng chạy quảng cáo mỗi tháng. Nhưng phần lớn không biết: khách đang nói gì, nhân viên tư vấn thế nào, đối thủ cạnh tranh ra sao — tất cả nằm trong hội thoại chưa được khai thác.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34901" y="2304752"/>
            <a:ext cx="38354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3A3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Khám Bệnh Hội Thoại là công cụ đầu tiên giúp chủ shop chẩn đoán chính xác vấn đề đang kìm hãm doanh số.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673501" y="698302"/>
            <a:ext cx="383559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BF30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 TRIỆU CHỨNG PHỔ BIẾN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673501" y="888802"/>
            <a:ext cx="3835598" cy="1030486"/>
          </a:xfrm>
          <a:prstGeom prst="roundRect">
            <a:avLst>
              <a:gd name="adj" fmla="val 9859"/>
            </a:avLst>
          </a:prstGeom>
          <a:solidFill>
            <a:srgbClr val="1A21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51202" y="1104602"/>
            <a:ext cx="348019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BF30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TRIỆU CHỨNG #1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851202" y="1326803"/>
            <a:ext cx="348019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Junk Lead tràn ngập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51202" y="1507778"/>
            <a:ext cx="3480197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8BA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Tin nhắn từ ads, khách hỏi chung, bấm nhầm — nhân viên mất 60% thời gian xử lý khách rác.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673501" y="2020788"/>
            <a:ext cx="3835598" cy="1030486"/>
          </a:xfrm>
          <a:prstGeom prst="roundRect">
            <a:avLst>
              <a:gd name="adj" fmla="val 9859"/>
            </a:avLst>
          </a:prstGeom>
          <a:solidFill>
            <a:srgbClr val="1A21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851202" y="2236589"/>
            <a:ext cx="348019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BF30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TRIỆU CHỨNG #2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4851202" y="2458789"/>
            <a:ext cx="348019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Phản hồi quá chậm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51202" y="2639764"/>
            <a:ext cx="3480197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8BA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Khách hỏi lúc 21h, nhân viên rep lúc 9h sáng hôm sau — khách đã mua ở shop khác.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673501" y="3152775"/>
            <a:ext cx="3835598" cy="1030486"/>
          </a:xfrm>
          <a:prstGeom prst="roundRect">
            <a:avLst>
              <a:gd name="adj" fmla="val 9859"/>
            </a:avLst>
          </a:prstGeom>
          <a:solidFill>
            <a:srgbClr val="1A21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851202" y="3368576"/>
            <a:ext cx="348019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BF30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TRIỆU CHỨNG #3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851202" y="3590776"/>
            <a:ext cx="348019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Đối thủ cướp khách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51202" y="3771751"/>
            <a:ext cx="3480197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8BA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Khách nhắc tên đối thủ 3 lần/tuần nhưng không ai trong team biết để phản công.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0" y="4623197"/>
            <a:ext cx="9144000" cy="520303"/>
          </a:xfrm>
          <a:prstGeom prst="rect">
            <a:avLst/>
          </a:prstGeom>
          <a:solidFill>
            <a:srgbClr val="1A21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34901" y="4826198"/>
            <a:ext cx="588392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4A5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THỊ TRƯỜNG: 4 TRIỆU HỘI THOẠI/THÁNG TRÊN FACEBOOK &amp; ZALO · 73% CHƯA ĐƯỢC PHÂN TÍCH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68201"/>
          </a:xfrm>
          <a:prstGeom prst="rect">
            <a:avLst/>
          </a:prstGeom>
          <a:solidFill>
            <a:srgbClr val="1A21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126950"/>
            <a:ext cx="787419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BF30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GIẢI PHÁP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0" y="368201"/>
            <a:ext cx="9144000" cy="1733252"/>
          </a:xfrm>
          <a:prstGeom prst="rect">
            <a:avLst/>
          </a:prstGeom>
          <a:solidFill>
            <a:srgbClr val="1A21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34901" y="520601"/>
            <a:ext cx="584239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"Khám Bệnh" Hội Thoại — dashboard sức khỏe liên tục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34901" y="1212652"/>
            <a:ext cx="584239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8BA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Crawl hội thoại → Chẩn đoán 9 nhóm bệnh → Gợi ý hành động cụ thể → Theo dõi cải thiện mỗi ngày. Gamification loop: action đúng → metrics cải thiện → động lực tiếp tục.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731198" y="520601"/>
            <a:ext cx="1777901" cy="1403152"/>
          </a:xfrm>
          <a:prstGeom prst="roundRect">
            <a:avLst>
              <a:gd name="adj" fmla="val 7241"/>
            </a:avLst>
          </a:prstGeom>
          <a:solidFill>
            <a:srgbClr val="0D15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858149" y="647551"/>
            <a:ext cx="152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BF30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6.4 / 10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6858149" y="1612702"/>
            <a:ext cx="152400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4A5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ĐIỂM MẪU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634901" y="2253853"/>
            <a:ext cx="2540050" cy="1271290"/>
          </a:xfrm>
          <a:prstGeom prst="roundRect">
            <a:avLst>
              <a:gd name="adj" fmla="val 79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1a2138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87301" y="2380804"/>
            <a:ext cx="304800" cy="304800"/>
          </a:xfrm>
          <a:prstGeom prst="roundRect">
            <a:avLst>
              <a:gd name="adj" fmla="val 20833"/>
            </a:avLst>
          </a:prstGeom>
          <a:solidFill>
            <a:srgbClr val="E8F0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47874" y="2433191"/>
            <a:ext cx="18365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5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87301" y="2799904"/>
            <a:ext cx="22352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Chẩn Đoán Thông Minh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87301" y="2971354"/>
            <a:ext cx="2235250" cy="426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5A5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phân tích 3,462 hội thoại → tự động chẩn đoán 9 nhóm bệnh, phát hiện vấn đề ẩn mà con người không kịp phát hiện.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301901" y="2253853"/>
            <a:ext cx="2540198" cy="1271290"/>
          </a:xfrm>
          <a:prstGeom prst="roundRect">
            <a:avLst>
              <a:gd name="adj" fmla="val 79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1a2138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454301" y="2380804"/>
            <a:ext cx="304800" cy="304800"/>
          </a:xfrm>
          <a:prstGeom prst="roundRect">
            <a:avLst>
              <a:gd name="adj" fmla="val 20833"/>
            </a:avLst>
          </a:prstGeom>
          <a:solidFill>
            <a:srgbClr val="FFF3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514874" y="2433191"/>
            <a:ext cx="18365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F30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54301" y="2799904"/>
            <a:ext cx="22353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Chuyên Gia Smax Gợi Ý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454301" y="2971354"/>
            <a:ext cx="2235398" cy="426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5A5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Smax là chuyên gia theo ngành. Gợi ý hành động cụ thể, có impact ước tính, kèm feature Smax phù hợp để triển khai ngay.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969050" y="2253853"/>
            <a:ext cx="2540050" cy="1271290"/>
          </a:xfrm>
          <a:prstGeom prst="roundRect">
            <a:avLst>
              <a:gd name="adj" fmla="val 79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1a2138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121450" y="2380804"/>
            <a:ext cx="304800" cy="304800"/>
          </a:xfrm>
          <a:prstGeom prst="roundRect">
            <a:avLst>
              <a:gd name="adj" fmla="val 20833"/>
            </a:avLst>
          </a:prstGeom>
          <a:solidFill>
            <a:srgbClr val="E8FF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182023" y="2433191"/>
            <a:ext cx="18365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121450" y="2799904"/>
            <a:ext cx="22352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 Dõi Real-time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121450" y="2971354"/>
            <a:ext cx="2235250" cy="426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5A5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Hồ sơ bệnh án cập nhật mỗi ngày. Gamification loop: action → thấy kết quả cải thiện → tiếp tục. Không phải báo cáo một lần.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0" y="3626644"/>
            <a:ext cx="9144000" cy="282476"/>
          </a:xfrm>
          <a:prstGeom prst="rect">
            <a:avLst/>
          </a:prstGeom>
          <a:solidFill>
            <a:srgbClr val="1A21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34901" y="3715494"/>
            <a:ext cx="787419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4A5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SMAX AI DIAGNOSTICS · EDITORIAL PRECISION DESIGN SYSTEM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72703"/>
          </a:xfrm>
          <a:prstGeom prst="rect">
            <a:avLst/>
          </a:prstGeom>
          <a:solidFill>
            <a:srgbClr val="1A21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279202"/>
            <a:ext cx="787419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BF30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LUỒNG NGƯỜI DÙNG — 5 BƯỚC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34901" y="1002804"/>
            <a:ext cx="787419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BF30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TỪ KẾT NỐI FANPAGE ĐẾN HỒ SƠ BỆNH ÁN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34901" y="1193304"/>
            <a:ext cx="787419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600" b="1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Wizard 5 Bước — Dễ hiểu, có cảm giác tiến bộ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2101" y="1628180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0052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263551" y="1756767"/>
            <a:ext cx="1141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4901" y="2199680"/>
            <a:ext cx="13716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900"/>
              </a:spcBef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005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Bước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12750" y="2383780"/>
            <a:ext cx="1015901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nối Fanpage (mockup UI)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006501" y="1881634"/>
            <a:ext cx="253901" cy="25301"/>
          </a:xfrm>
          <a:prstGeom prst="rect">
            <a:avLst/>
          </a:prstGeom>
          <a:solidFill>
            <a:srgbClr val="0052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717602" y="1628180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0052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889052" y="1756767"/>
            <a:ext cx="1141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260402" y="2199680"/>
            <a:ext cx="13717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900"/>
              </a:spcBef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005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Bước 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438251" y="2383780"/>
            <a:ext cx="1015901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Khai báo ngành hàng + nhóm KH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632150" y="1881634"/>
            <a:ext cx="253901" cy="25301"/>
          </a:xfrm>
          <a:prstGeom prst="rect">
            <a:avLst/>
          </a:prstGeom>
          <a:solidFill>
            <a:srgbClr val="0052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343251" y="1628180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0052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514701" y="1756767"/>
            <a:ext cx="1141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86051" y="2199680"/>
            <a:ext cx="13717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900"/>
              </a:spcBef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005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Bước 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063901" y="2383780"/>
            <a:ext cx="1015901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Chọn số lượng (1K / 5K / 10K)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257800" y="1881634"/>
            <a:ext cx="253901" cy="25301"/>
          </a:xfrm>
          <a:prstGeom prst="rect">
            <a:avLst/>
          </a:prstGeom>
          <a:solidFill>
            <a:srgbClr val="0052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968901" y="1628180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BF300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155085" y="1771055"/>
            <a:ext cx="848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511701" y="2199680"/>
            <a:ext cx="13717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900"/>
              </a:spcBef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BF30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Bước 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689550" y="2383780"/>
            <a:ext cx="1015901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Crawl + Progress real-time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883450" y="1881634"/>
            <a:ext cx="253901" cy="25301"/>
          </a:xfrm>
          <a:prstGeom prst="rect">
            <a:avLst/>
          </a:prstGeom>
          <a:solidFill>
            <a:srgbClr val="D0D5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575500" y="1609130"/>
            <a:ext cx="495300" cy="495300"/>
          </a:xfrm>
          <a:prstGeom prst="roundRect">
            <a:avLst>
              <a:gd name="adj" fmla="val 184615"/>
            </a:avLst>
          </a:prstGeom>
          <a:solidFill>
            <a:srgbClr val="FFFFFF"/>
          </a:solidFill>
          <a:ln w="19050">
            <a:solidFill>
              <a:srgbClr val="D0D5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7746950" y="1771055"/>
            <a:ext cx="1524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9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137350" y="2218730"/>
            <a:ext cx="13717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900"/>
              </a:spcBef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9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Bước 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315200" y="2402830"/>
            <a:ext cx="1015901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9B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Hồ sơ bệnh án (Dashboard)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34901" y="3093690"/>
            <a:ext cx="7874198" cy="25301"/>
          </a:xfrm>
          <a:prstGeom prst="rect">
            <a:avLst/>
          </a:prstGeom>
          <a:solidFill>
            <a:srgbClr val="1A21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34901" y="3347591"/>
            <a:ext cx="1873300" cy="945952"/>
          </a:xfrm>
          <a:prstGeom prst="roundRect">
            <a:avLst>
              <a:gd name="adj" fmla="val 10741"/>
            </a:avLst>
          </a:prstGeom>
          <a:solidFill>
            <a:srgbClr val="1A21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812602" y="3588841"/>
            <a:ext cx="151789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400"/>
              </a:spcAft>
              <a:buNone/>
            </a:pPr>
            <a:r>
              <a:rPr lang="en-US" sz="700" dirty="0">
                <a:solidFill>
                  <a:srgbClr val="4A5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HỘI THOẠI CRAWL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812602" y="3734842"/>
            <a:ext cx="151789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3,462 </a:t>
            </a:r>
            <a:pPr algn="l"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42 mới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812602" y="4026843"/>
            <a:ext cx="151789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8BA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Cập nhật hôm nay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635151" y="3347591"/>
            <a:ext cx="1873448" cy="945952"/>
          </a:xfrm>
          <a:prstGeom prst="roundRect">
            <a:avLst>
              <a:gd name="adj" fmla="val 10741"/>
            </a:avLst>
          </a:prstGeom>
          <a:solidFill>
            <a:srgbClr val="1A21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2812852" y="3588841"/>
            <a:ext cx="151804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400"/>
              </a:spcAft>
              <a:buNone/>
            </a:pPr>
            <a:r>
              <a:rPr lang="en-US" sz="700" dirty="0">
                <a:solidFill>
                  <a:srgbClr val="4A5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JUNK LEAD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2812852" y="3734842"/>
            <a:ext cx="151804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23% </a:t>
            </a:r>
            <a:pPr algn="l" indent="0" marL="0">
              <a:buNone/>
            </a:pPr>
            <a:r>
              <a:rPr lang="en-US" sz="800" b="1" dirty="0">
                <a:solidFill>
                  <a:srgbClr val="BF30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+5%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2812852" y="4026843"/>
            <a:ext cx="151804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8BA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với tuần trước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635550" y="3347591"/>
            <a:ext cx="1873300" cy="945952"/>
          </a:xfrm>
          <a:prstGeom prst="roundRect">
            <a:avLst>
              <a:gd name="adj" fmla="val 10741"/>
            </a:avLst>
          </a:prstGeom>
          <a:solidFill>
            <a:srgbClr val="1A21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4813250" y="3588841"/>
            <a:ext cx="151789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400"/>
              </a:spcAft>
              <a:buNone/>
            </a:pPr>
            <a:r>
              <a:rPr lang="en-US" sz="700" dirty="0">
                <a:solidFill>
                  <a:srgbClr val="4A5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TỐC ĐỘ PHẢN HỒI TB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4813250" y="3734842"/>
            <a:ext cx="151789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phút </a:t>
            </a:r>
            <a:pPr algn="l"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-3 phút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4813250" y="4026843"/>
            <a:ext cx="151789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8BA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Đang cải thiện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635800" y="3347591"/>
            <a:ext cx="1873300" cy="945952"/>
          </a:xfrm>
          <a:prstGeom prst="roundRect">
            <a:avLst>
              <a:gd name="adj" fmla="val 10741"/>
            </a:avLst>
          </a:prstGeom>
          <a:solidFill>
            <a:srgbClr val="1A21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6813500" y="3588841"/>
            <a:ext cx="151789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400"/>
              </a:spcAft>
              <a:buNone/>
            </a:pPr>
            <a:r>
              <a:rPr lang="en-US" sz="700" dirty="0">
                <a:solidFill>
                  <a:srgbClr val="4A5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ĐIỂM SỨC KHỎE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6813500" y="3734842"/>
            <a:ext cx="151789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6.4 / 10 </a:t>
            </a:r>
            <a:pPr algn="l"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+0.1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6813500" y="4026843"/>
            <a:ext cx="151789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8BA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với lần khám trước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0" y="4826198"/>
            <a:ext cx="9144000" cy="317302"/>
          </a:xfrm>
          <a:prstGeom prst="rect">
            <a:avLst/>
          </a:prstGeom>
          <a:solidFill>
            <a:srgbClr val="1A21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634901" y="4927699"/>
            <a:ext cx="787419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A5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SMAX AI DIAGNOSTICS · MEDICALCHECKUP LANDING PAGE · MEDICALCHECKUP.JSX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52152"/>
          </a:xfrm>
          <a:prstGeom prst="rect">
            <a:avLst/>
          </a:prstGeom>
          <a:solidFill>
            <a:srgbClr val="1A21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223689"/>
            <a:ext cx="278397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BF30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NHÓM BỆNH — CHẨN ĐOÁN TOÀN DIỆN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34901" y="717203"/>
            <a:ext cx="787419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BF30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HỒ SƠ BỆNH ÁN MẪU: NGÀNH THỜI TRANG · 3,462 HỘI THOẠI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634901" y="850553"/>
            <a:ext cx="787419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nhóm vấn đề — scan trong 3 giây, ưu tiên hành động ngay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1098203"/>
            <a:ext cx="2776538" cy="603052"/>
          </a:xfrm>
          <a:prstGeom prst="roundRect">
            <a:avLst>
              <a:gd name="adj" fmla="val 12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1a2138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36402" y="1301353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BF300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50553" y="1275904"/>
            <a:ext cx="218345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Quality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36402" y="1529804"/>
            <a:ext cx="257353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A5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Junk Lead 42% · SĐT 23% · Chốt 18%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3474839" y="1098203"/>
            <a:ext cx="2776538" cy="603052"/>
          </a:xfrm>
          <a:prstGeom prst="roundRect">
            <a:avLst>
              <a:gd name="adj" fmla="val 12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1a2138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576340" y="1301353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BF300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690491" y="1275904"/>
            <a:ext cx="218345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Nhân Viên Tư Vấn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576340" y="1529804"/>
            <a:ext cx="257353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A5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Thái độ · Lỗi mất khách · Tư vấn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634901" y="1764655"/>
            <a:ext cx="2776538" cy="603052"/>
          </a:xfrm>
          <a:prstGeom prst="roundRect">
            <a:avLst>
              <a:gd name="adj" fmla="val 12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1a2138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36402" y="1967805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BF300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50553" y="1942356"/>
            <a:ext cx="218345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Upsell / Cross-sell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36402" y="2196257"/>
            <a:ext cx="257353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A5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Gợi ý SP bổ sung · Gói cao · Ignore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3474839" y="1764655"/>
            <a:ext cx="2776538" cy="603052"/>
          </a:xfrm>
          <a:prstGeom prst="roundRect">
            <a:avLst>
              <a:gd name="adj" fmla="val 12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1a2138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576340" y="1967805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0052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690491" y="1942356"/>
            <a:ext cx="218345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CSKH &amp; Hậu Mua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576340" y="2196257"/>
            <a:ext cx="257353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A5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CSKH · Review risk · Urgency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634901" y="2431107"/>
            <a:ext cx="2776538" cy="603052"/>
          </a:xfrm>
          <a:prstGeom prst="roundRect">
            <a:avLst>
              <a:gd name="adj" fmla="val 12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1a2138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36402" y="2634258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0052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850553" y="2608808"/>
            <a:ext cx="218345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Kịch Bản Tư Vấn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36402" y="2862709"/>
            <a:ext cx="257353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A5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Objection handling · Script follow-up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3474839" y="2431107"/>
            <a:ext cx="2776538" cy="603052"/>
          </a:xfrm>
          <a:prstGeom prst="roundRect">
            <a:avLst>
              <a:gd name="adj" fmla="val 12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1a2138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576340" y="2634258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0052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690491" y="2608808"/>
            <a:ext cx="218345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Cuộc Trò Chuyện Bỏ Dở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576340" y="2862709"/>
            <a:ext cx="257353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A5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Abandoned chat · No closure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634901" y="3097560"/>
            <a:ext cx="2776538" cy="603052"/>
          </a:xfrm>
          <a:prstGeom prst="roundRect">
            <a:avLst>
              <a:gd name="adj" fmla="val 12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1a2138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736402" y="3300710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850553" y="3275261"/>
            <a:ext cx="218345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Đối Thủ Cạnh Tranh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36402" y="3529161"/>
            <a:ext cx="257353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A5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Đối thủ nhắc · So sánh giá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3474839" y="3097560"/>
            <a:ext cx="2776538" cy="603052"/>
          </a:xfrm>
          <a:prstGeom prst="roundRect">
            <a:avLst>
              <a:gd name="adj" fmla="val 12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1a2138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3576340" y="3300710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3690491" y="3275261"/>
            <a:ext cx="218345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Ngôn Ngữ &amp; Cách Giao Tiếp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576340" y="3529161"/>
            <a:ext cx="257353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A5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Tone giọng · Emoji usage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634901" y="3764012"/>
            <a:ext cx="2776538" cy="603052"/>
          </a:xfrm>
          <a:prstGeom prst="roundRect">
            <a:avLst>
              <a:gd name="adj" fmla="val 12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1a2138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736402" y="3967163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850553" y="3941713"/>
            <a:ext cx="218345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Phản Hồi &amp; Chăm Sóc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36402" y="4195614"/>
            <a:ext cx="257353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A5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Tốc độ phản hồi · Remind KH · Ưu đãi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634901" y="4535239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BF300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749052" y="4519315"/>
            <a:ext cx="51881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5A5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Nặng (0–3.0)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1394817" y="4535239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0052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1508968" y="4519315"/>
            <a:ext cx="80694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5A5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Trung bình (3.1–6.0)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2442865" y="4535239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2557016" y="4519315"/>
            <a:ext cx="51881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5A5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Nhẹ (6.1–10)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634901" y="4779615"/>
            <a:ext cx="7874198" cy="878979"/>
          </a:xfrm>
          <a:prstGeom prst="roundRect">
            <a:avLst>
              <a:gd name="adj" fmla="val 8669"/>
            </a:avLst>
          </a:prstGeom>
          <a:solidFill>
            <a:srgbClr val="1A21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761851" y="4950916"/>
            <a:ext cx="487724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50"/>
              </a:spcBef>
              <a:spcAft>
                <a:spcPts val="300"/>
              </a:spcAft>
              <a:buNone/>
            </a:pPr>
            <a:r>
              <a:rPr lang="en-US" sz="650" b="1" dirty="0">
                <a:solidFill>
                  <a:srgbClr val="BF30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ĐIỂM NỔI BẬT</a:t>
            </a:r>
            <a:endParaRPr lang="en-US" sz="650" dirty="0"/>
          </a:p>
        </p:txBody>
      </p:sp>
      <p:sp>
        <p:nvSpPr>
          <p:cNvPr id="50" name="Text 48"/>
          <p:cNvSpPr/>
          <p:nvPr/>
        </p:nvSpPr>
        <p:spPr>
          <a:xfrm>
            <a:off x="761851" y="5147667"/>
            <a:ext cx="487724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Quality = "Nặng" — Junk Lead 42%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761851" y="5287268"/>
            <a:ext cx="487724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8BA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Trên 40% tin nhắn là khách rác (ads auto-reply, hỏi chung, bấm nhầm). Đây là vấn đề nghiêm trọng nhất kéo tụt toàn bộ team tư vấn. Smax gợi ý: thêm câu hỏi sàng lọc vào ad creative, script phản hồi nhanh 5 phút đầu.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5740598" y="4868466"/>
            <a:ext cx="2641550" cy="701278"/>
          </a:xfrm>
          <a:prstGeom prst="roundRect">
            <a:avLst>
              <a:gd name="adj" fmla="val 10866"/>
            </a:avLst>
          </a:prstGeom>
          <a:solidFill>
            <a:srgbClr val="0D15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5842099" y="5052417"/>
            <a:ext cx="243854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50"/>
              </a:spcBef>
              <a:spcAft>
                <a:spcPts val="300"/>
              </a:spcAft>
              <a:buNone/>
            </a:pPr>
            <a:r>
              <a:rPr lang="en-US" sz="650" b="1" dirty="0">
                <a:solidFill>
                  <a:srgbClr val="BF30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ĐẦU TIÊN</a:t>
            </a:r>
            <a:endParaRPr lang="en-US" sz="650" dirty="0"/>
          </a:p>
        </p:txBody>
      </p:sp>
      <p:sp>
        <p:nvSpPr>
          <p:cNvPr id="54" name="Text 52"/>
          <p:cNvSpPr/>
          <p:nvPr/>
        </p:nvSpPr>
        <p:spPr>
          <a:xfrm>
            <a:off x="5842099" y="5242917"/>
            <a:ext cx="243854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Thêm câu hỏi sàng lọc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5842099" y="5372993"/>
            <a:ext cx="243854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A5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Giảm junk 20%. Tích hợp Smax Auto-reply.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33375"/>
          </a:xfrm>
          <a:prstGeom prst="rect">
            <a:avLst/>
          </a:prstGeom>
          <a:solidFill>
            <a:srgbClr val="1A21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114300"/>
            <a:ext cx="787419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BF30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 TIẾT NHÓM BỆNH — LEAD QUALITY (SCORE 2.1)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34901" y="555575"/>
            <a:ext cx="501922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400"/>
              </a:spcAft>
              <a:buNone/>
            </a:pPr>
            <a:r>
              <a:rPr lang="en-US" sz="750" b="1" dirty="0">
                <a:solidFill>
                  <a:srgbClr val="BF30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BIỂU ĐỒ &amp; CHỈ SỐ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634901" y="711101"/>
            <a:ext cx="5019229" cy="475952"/>
          </a:xfrm>
          <a:prstGeom prst="roundRect">
            <a:avLst>
              <a:gd name="adj" fmla="val 21347"/>
            </a:avLst>
          </a:prstGeom>
          <a:solidFill>
            <a:srgbClr val="BF300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87301" y="812602"/>
            <a:ext cx="47144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Quality — Tỉ lệ Junk Lead cao bất thường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87301" y="980777"/>
            <a:ext cx="471442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Score: 2.1/10 · Nặng · Thời trang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34901" y="1187053"/>
            <a:ext cx="5019229" cy="3303091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1a2138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87301" y="1314004"/>
            <a:ext cx="1520577" cy="755452"/>
          </a:xfrm>
          <a:prstGeom prst="roundRect">
            <a:avLst>
              <a:gd name="adj" fmla="val 8406"/>
            </a:avLst>
          </a:prstGeom>
          <a:solidFill>
            <a:srgbClr val="FCF8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63501" y="1390204"/>
            <a:ext cx="136817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F30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42%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3501" y="1625054"/>
            <a:ext cx="136817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5A5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Junk Lead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863501" y="1809155"/>
            <a:ext cx="136817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+8% vs TB ngành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2384078" y="1314004"/>
            <a:ext cx="1520726" cy="755452"/>
          </a:xfrm>
          <a:prstGeom prst="roundRect">
            <a:avLst>
              <a:gd name="adj" fmla="val 8406"/>
            </a:avLst>
          </a:prstGeom>
          <a:solidFill>
            <a:srgbClr val="FCF8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460278" y="1390204"/>
            <a:ext cx="136832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23%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460278" y="1625054"/>
            <a:ext cx="136832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5A5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SĐT thu thập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2460278" y="1809155"/>
            <a:ext cx="136832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BF30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chưa đạt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981004" y="1314004"/>
            <a:ext cx="1520726" cy="755452"/>
          </a:xfrm>
          <a:prstGeom prst="roundRect">
            <a:avLst>
              <a:gd name="adj" fmla="val 8406"/>
            </a:avLst>
          </a:prstGeom>
          <a:solidFill>
            <a:srgbClr val="FCF8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057204" y="1390204"/>
            <a:ext cx="136832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057204" y="1625054"/>
            <a:ext cx="136832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5A5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Tỉ lệ chốt đơn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4057204" y="1809155"/>
            <a:ext cx="136832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BF30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dưới mức kỳ vọng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787301" y="2170956"/>
            <a:ext cx="4714429" cy="853083"/>
          </a:xfrm>
          <a:prstGeom prst="roundRect">
            <a:avLst>
              <a:gd name="adj" fmla="val 7444"/>
            </a:avLst>
          </a:prstGeom>
          <a:solidFill>
            <a:srgbClr val="FCF8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76151" y="2348657"/>
            <a:ext cx="453672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BF30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DIỄN GIẢI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876151" y="2482007"/>
            <a:ext cx="4536728" cy="4531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3A3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Junk Lead ở mức 42% — gấp đôi ngưỡng chấp nhận (20%). Nguyên nhân: ad creative không có câu hỏi sàng lọc, landing page thiếu giá, khách bấm nhầm từ remarketing. Tác động: nhân viên mất 42% thời gian vào khách không có nhu cầu thật.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87301" y="3125539"/>
            <a:ext cx="4714429" cy="1237655"/>
          </a:xfrm>
          <a:prstGeom prst="roundRect">
            <a:avLst>
              <a:gd name="adj" fmla="val 5131"/>
            </a:avLst>
          </a:prstGeom>
          <a:solidFill>
            <a:srgbClr val="1A21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914251" y="3315891"/>
            <a:ext cx="446052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BF30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CHUYÊN GIA SMAX GỢI Ý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914251" y="3519041"/>
            <a:ext cx="446052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50"/>
              </a:spcBef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Thêm câu hỏi sàng lọc vào ad creative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4251" y="3728591"/>
            <a:ext cx="446052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Tác động: ↓ Junk 20% · ↑ Chốt đơn 15%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914251" y="3871466"/>
            <a:ext cx="446052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8BA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Bước 1: Vào Ads Manager → chỉnh sửa ad copy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914251" y="4001542"/>
            <a:ext cx="446052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8BA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Bước 2: Thêm câu hỏi sàng lọc vào headline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914251" y="4131618"/>
            <a:ext cx="446052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8BA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Bước 3: Test A/B trong 7 ngày, đo junk rate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5806529" y="555575"/>
            <a:ext cx="270257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400"/>
              </a:spcAft>
              <a:buNone/>
            </a:pPr>
            <a:r>
              <a:rPr lang="en-US" sz="750" b="1" dirty="0">
                <a:solidFill>
                  <a:srgbClr val="BF30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HỘI THOẠI ĐẠI DIỆN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5806529" y="711101"/>
            <a:ext cx="900857" cy="241102"/>
          </a:xfrm>
          <a:prstGeom prst="roundRect">
            <a:avLst>
              <a:gd name="adj" fmla="val 26337"/>
            </a:avLst>
          </a:prstGeom>
          <a:solidFill>
            <a:srgbClr val="1A21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869930" y="774502"/>
            <a:ext cx="7740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Tin nhắn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707386" y="711101"/>
            <a:ext cx="900857" cy="241102"/>
          </a:xfrm>
          <a:prstGeom prst="roundRect">
            <a:avLst>
              <a:gd name="adj" fmla="val 26337"/>
            </a:avLst>
          </a:prstGeom>
          <a:solidFill>
            <a:srgbClr val="E8EA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770787" y="774502"/>
            <a:ext cx="7740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A5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Đánh giá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608243" y="711101"/>
            <a:ext cx="900857" cy="241102"/>
          </a:xfrm>
          <a:prstGeom prst="roundRect">
            <a:avLst>
              <a:gd name="adj" fmla="val 26337"/>
            </a:avLst>
          </a:prstGeom>
          <a:solidFill>
            <a:srgbClr val="E8EA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7671643" y="774502"/>
            <a:ext cx="7740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A5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Hành động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806529" y="1028402"/>
            <a:ext cx="2702570" cy="4516636"/>
          </a:xfrm>
          <a:prstGeom prst="roundRect">
            <a:avLst>
              <a:gd name="adj" fmla="val 3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1a2138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5908030" y="1314004"/>
            <a:ext cx="208061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50"/>
              </a:spcBef>
              <a:spcAft>
                <a:spcPts val="850"/>
              </a:spcAft>
              <a:buNone/>
            </a:pPr>
            <a:r>
              <a:rPr lang="en-US" sz="850" b="1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Nguyễn Thị Lan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908030" y="1574304"/>
            <a:ext cx="2499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"Cho hỏi giày sneaker size 42 còn không? Giá bao nhiêu vậy ạ?"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908030" y="2428131"/>
            <a:ext cx="220905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50"/>
              </a:spcBef>
              <a:spcAft>
                <a:spcPts val="850"/>
              </a:spcAft>
              <a:buNone/>
            </a:pPr>
            <a:r>
              <a:rPr lang="en-US" sz="850" b="1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Trần Minh Tuấn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908030" y="2688431"/>
            <a:ext cx="249956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"shop có ship HCM không? mình ở quận 7. Giá có优惠 gì không?"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908030" y="3542258"/>
            <a:ext cx="210041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50"/>
              </a:spcBef>
              <a:spcAft>
                <a:spcPts val="850"/>
              </a:spcAft>
              <a:buNone/>
            </a:pPr>
            <a:r>
              <a:rPr lang="en-US" sz="850" b="1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Hoàng Nam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908030" y="3802559"/>
            <a:ext cx="249956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"ádasdad"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908030" y="4523036"/>
            <a:ext cx="208061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50"/>
              </a:spcBef>
              <a:spcAft>
                <a:spcPts val="850"/>
              </a:spcAft>
              <a:buNone/>
            </a:pPr>
            <a:r>
              <a:rPr lang="en-US" sz="850" b="1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Phạm Thu Hà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908030" y="4783336"/>
            <a:ext cx="2499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"Mình muốn đặt 5 đôi cho công ty làm đồng phục, có báo giá được không?"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33375"/>
          </a:xfrm>
          <a:prstGeom prst="rect">
            <a:avLst/>
          </a:prstGeom>
          <a:solidFill>
            <a:srgbClr val="1A21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114300"/>
            <a:ext cx="787419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BF30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HỒ SƠ BỆNH ÁN — ĐIỂM SỨC KHỎE TỔNG QUAN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0" y="333375"/>
            <a:ext cx="9144000" cy="2333030"/>
          </a:xfrm>
          <a:prstGeom prst="rect">
            <a:avLst/>
          </a:prstGeom>
          <a:solidFill>
            <a:srgbClr val="1A21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34901" y="460325"/>
            <a:ext cx="1396901" cy="584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600"/>
              </a:lnSpc>
              <a:buNone/>
            </a:pPr>
            <a:r>
              <a:rPr lang="en-US" sz="4600" b="1" dirty="0">
                <a:solidFill>
                  <a:srgbClr val="BF30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6.4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34901" y="1082576"/>
            <a:ext cx="139690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750" b="1" dirty="0">
                <a:solidFill>
                  <a:srgbClr val="BF30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ĐIỂM / 10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634901" y="1263551"/>
            <a:ext cx="139690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+0.1 vs lần khám trước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34901" y="1479352"/>
            <a:ext cx="1396901" cy="101501"/>
          </a:xfrm>
          <a:prstGeom prst="roundRect">
            <a:avLst>
              <a:gd name="adj" fmla="val 50049"/>
            </a:avLst>
          </a:prstGeom>
          <a:solidFill>
            <a:srgbClr val="0D15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184202" y="549176"/>
            <a:ext cx="632489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600"/>
              </a:spcAft>
              <a:buNone/>
            </a:pPr>
            <a:r>
              <a:rPr lang="en-US" sz="700" dirty="0">
                <a:solidFill>
                  <a:srgbClr val="4A5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ĐÓNG GÓP THEO NHÓM BỆNH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2184202" y="815876"/>
            <a:ext cx="8889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BF30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Quality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136553" y="823764"/>
            <a:ext cx="5080546" cy="88850"/>
          </a:xfrm>
          <a:prstGeom prst="roundRect">
            <a:avLst>
              <a:gd name="adj" fmla="val 42881"/>
            </a:avLst>
          </a:prstGeom>
          <a:solidFill>
            <a:srgbClr val="0D15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136553" y="823764"/>
            <a:ext cx="1066800" cy="88850"/>
          </a:xfrm>
          <a:prstGeom prst="roundRect">
            <a:avLst>
              <a:gd name="adj" fmla="val 42881"/>
            </a:avLst>
          </a:prstGeom>
          <a:solidFill>
            <a:srgbClr val="BF300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280499" y="815876"/>
            <a:ext cx="22860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b="1" dirty="0">
                <a:solidFill>
                  <a:srgbClr val="BF30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2184202" y="1174552"/>
            <a:ext cx="8889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BF30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Upsell/Cross-sell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136553" y="1182439"/>
            <a:ext cx="5080546" cy="88850"/>
          </a:xfrm>
          <a:prstGeom prst="roundRect">
            <a:avLst>
              <a:gd name="adj" fmla="val 42881"/>
            </a:avLst>
          </a:prstGeom>
          <a:solidFill>
            <a:srgbClr val="0D15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136553" y="1182439"/>
            <a:ext cx="2337048" cy="88850"/>
          </a:xfrm>
          <a:prstGeom prst="roundRect">
            <a:avLst>
              <a:gd name="adj" fmla="val 42881"/>
            </a:avLst>
          </a:prstGeom>
          <a:solidFill>
            <a:srgbClr val="BF300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280499" y="1174552"/>
            <a:ext cx="22860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b="1" dirty="0">
                <a:solidFill>
                  <a:srgbClr val="BF30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2184202" y="1533227"/>
            <a:ext cx="8889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BF30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Nhân Viên Tư Vấn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136553" y="1541115"/>
            <a:ext cx="5080546" cy="88850"/>
          </a:xfrm>
          <a:prstGeom prst="roundRect">
            <a:avLst>
              <a:gd name="adj" fmla="val 42881"/>
            </a:avLst>
          </a:prstGeom>
          <a:solidFill>
            <a:srgbClr val="0D15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136553" y="1541115"/>
            <a:ext cx="2438549" cy="88850"/>
          </a:xfrm>
          <a:prstGeom prst="roundRect">
            <a:avLst>
              <a:gd name="adj" fmla="val 42881"/>
            </a:avLst>
          </a:prstGeom>
          <a:solidFill>
            <a:srgbClr val="BF300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280499" y="1533227"/>
            <a:ext cx="22860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b="1" dirty="0">
                <a:solidFill>
                  <a:srgbClr val="BF30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184202" y="1891903"/>
            <a:ext cx="8889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005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CSKH &amp; Hậu Mua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136553" y="1899791"/>
            <a:ext cx="5080546" cy="88850"/>
          </a:xfrm>
          <a:prstGeom prst="roundRect">
            <a:avLst>
              <a:gd name="adj" fmla="val 42881"/>
            </a:avLst>
          </a:prstGeom>
          <a:solidFill>
            <a:srgbClr val="0D15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136553" y="1899791"/>
            <a:ext cx="3251448" cy="88850"/>
          </a:xfrm>
          <a:prstGeom prst="roundRect">
            <a:avLst>
              <a:gd name="adj" fmla="val 42881"/>
            </a:avLst>
          </a:prstGeom>
          <a:solidFill>
            <a:srgbClr val="0052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8280499" y="1891903"/>
            <a:ext cx="22860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b="1" dirty="0">
                <a:solidFill>
                  <a:srgbClr val="005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6.4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2184202" y="2250579"/>
            <a:ext cx="8889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Phản Hồi &amp; CS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136553" y="2258467"/>
            <a:ext cx="5080546" cy="88850"/>
          </a:xfrm>
          <a:prstGeom prst="roundRect">
            <a:avLst>
              <a:gd name="adj" fmla="val 42881"/>
            </a:avLst>
          </a:prstGeom>
          <a:solidFill>
            <a:srgbClr val="0D15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136553" y="2258467"/>
            <a:ext cx="4369147" cy="88850"/>
          </a:xfrm>
          <a:prstGeom prst="roundRect">
            <a:avLst>
              <a:gd name="adj" fmla="val 42881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8280499" y="2250579"/>
            <a:ext cx="22860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8.6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34901" y="2831455"/>
            <a:ext cx="450443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750" b="1" dirty="0">
                <a:solidFill>
                  <a:srgbClr val="BF30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PHỄU CHUYỂN ĐỔI &amp; KPI LEADS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634901" y="3012430"/>
            <a:ext cx="1068884" cy="847427"/>
          </a:xfrm>
          <a:prstGeom prst="roundRect">
            <a:avLst>
              <a:gd name="adj" fmla="val 89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1a2138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749201" y="3190131"/>
            <a:ext cx="84028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300"/>
              </a:spcAft>
              <a:buNone/>
            </a:pPr>
            <a:r>
              <a:rPr lang="en-US" sz="700" dirty="0">
                <a:solidFill>
                  <a:srgbClr val="5A5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JUNK LEAD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749201" y="3323481"/>
            <a:ext cx="84028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BF30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23%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49201" y="3586907"/>
            <a:ext cx="84028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BF30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+5% tuần này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1779984" y="3012430"/>
            <a:ext cx="1069032" cy="847427"/>
          </a:xfrm>
          <a:prstGeom prst="roundRect">
            <a:avLst>
              <a:gd name="adj" fmla="val 89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1a2138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1894284" y="3190131"/>
            <a:ext cx="84043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300"/>
              </a:spcAft>
              <a:buNone/>
            </a:pPr>
            <a:r>
              <a:rPr lang="en-US" sz="700" dirty="0">
                <a:solidFill>
                  <a:srgbClr val="5A5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 THẬP SĐT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1894284" y="3323481"/>
            <a:ext cx="84043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61%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894284" y="3586907"/>
            <a:ext cx="84043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+3%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2925217" y="3012430"/>
            <a:ext cx="1068884" cy="847427"/>
          </a:xfrm>
          <a:prstGeom prst="roundRect">
            <a:avLst>
              <a:gd name="adj" fmla="val 89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1a2138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3039517" y="3190131"/>
            <a:ext cx="84028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300"/>
              </a:spcAft>
              <a:buNone/>
            </a:pPr>
            <a:r>
              <a:rPr lang="en-US" sz="700" dirty="0">
                <a:solidFill>
                  <a:srgbClr val="5A5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CHỐT ĐƠN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3039517" y="3323481"/>
            <a:ext cx="84028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3039517" y="3586907"/>
            <a:ext cx="84028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BF30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cần cải thiện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4070300" y="3012430"/>
            <a:ext cx="1069032" cy="847427"/>
          </a:xfrm>
          <a:prstGeom prst="roundRect">
            <a:avLst>
              <a:gd name="adj" fmla="val 89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1a2138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4184600" y="3190131"/>
            <a:ext cx="84043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300"/>
              </a:spcAft>
              <a:buNone/>
            </a:pPr>
            <a:r>
              <a:rPr lang="en-US" sz="700" dirty="0">
                <a:solidFill>
                  <a:srgbClr val="5A5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 QUAY LẠI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4184600" y="3323481"/>
            <a:ext cx="84043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4184600" y="3586907"/>
            <a:ext cx="84043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tốt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634901" y="3961358"/>
            <a:ext cx="4504432" cy="1533079"/>
          </a:xfrm>
          <a:prstGeom prst="roundRect">
            <a:avLst>
              <a:gd name="adj" fmla="val 49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1a2138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736402" y="4164360"/>
            <a:ext cx="430143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Phễu Chuyển Đổi Hội Thoại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736402" y="4450110"/>
            <a:ext cx="5079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5A5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Nóng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1307753" y="4451747"/>
            <a:ext cx="3361879" cy="101501"/>
          </a:xfrm>
          <a:prstGeom prst="roundRect">
            <a:avLst>
              <a:gd name="adj" fmla="val 37537"/>
            </a:avLst>
          </a:prstGeom>
          <a:solidFill>
            <a:srgbClr val="F0F0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1307753" y="4451747"/>
            <a:ext cx="1277392" cy="101501"/>
          </a:xfrm>
          <a:prstGeom prst="roundRect">
            <a:avLst>
              <a:gd name="adj" fmla="val 37537"/>
            </a:avLst>
          </a:prstGeom>
          <a:solidFill>
            <a:srgbClr val="BF300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4733032" y="4450110"/>
            <a:ext cx="30480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b="1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736402" y="4796135"/>
            <a:ext cx="5079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5A5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 SĐT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1307753" y="4797772"/>
            <a:ext cx="3361879" cy="101501"/>
          </a:xfrm>
          <a:prstGeom prst="roundRect">
            <a:avLst>
              <a:gd name="adj" fmla="val 37537"/>
            </a:avLst>
          </a:prstGeom>
          <a:solidFill>
            <a:srgbClr val="F0F0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1307753" y="4797772"/>
            <a:ext cx="773162" cy="101501"/>
          </a:xfrm>
          <a:prstGeom prst="roundRect">
            <a:avLst>
              <a:gd name="adj" fmla="val 37537"/>
            </a:avLst>
          </a:prstGeom>
          <a:solidFill>
            <a:srgbClr val="0052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4733032" y="4796135"/>
            <a:ext cx="30480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b="1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61%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736402" y="5142161"/>
            <a:ext cx="5079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5A5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Chốt đơn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1307753" y="5143798"/>
            <a:ext cx="3361879" cy="101501"/>
          </a:xfrm>
          <a:prstGeom prst="roundRect">
            <a:avLst>
              <a:gd name="adj" fmla="val 37537"/>
            </a:avLst>
          </a:prstGeom>
          <a:solidFill>
            <a:srgbClr val="F0F0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1307753" y="5143798"/>
            <a:ext cx="605135" cy="101501"/>
          </a:xfrm>
          <a:prstGeom prst="roundRect">
            <a:avLst>
              <a:gd name="adj" fmla="val 37537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4733032" y="5142161"/>
            <a:ext cx="30480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b="1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5291733" y="2831455"/>
            <a:ext cx="321736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750" b="1" dirty="0">
                <a:solidFill>
                  <a:srgbClr val="BF30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CẢNH BÁO KHẨN &amp; GỢI Ý SMAX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5291733" y="3012430"/>
            <a:ext cx="3217366" cy="1099691"/>
          </a:xfrm>
          <a:prstGeom prst="roundRect">
            <a:avLst>
              <a:gd name="adj" fmla="val 6929"/>
            </a:avLst>
          </a:prstGeom>
          <a:solidFill>
            <a:srgbClr val="BF300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5418683" y="3202781"/>
            <a:ext cx="296346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CẢNH BÁO KHẨN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5418683" y="3412331"/>
            <a:ext cx="29634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Junk Lead 42% — Lead Quality điểm thấp nhất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5418683" y="3583781"/>
            <a:ext cx="2963466" cy="426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cuộc hội thoại dẫn chứng: khách gửi tin tự động từ ads, hỏi chung không rep, bấm nhầm từ remarketing. Cần action ngay tuần này.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5291733" y="4213622"/>
            <a:ext cx="3217366" cy="1625054"/>
          </a:xfrm>
          <a:prstGeom prst="roundRect">
            <a:avLst>
              <a:gd name="adj" fmla="val 4689"/>
            </a:avLst>
          </a:prstGeom>
          <a:solidFill>
            <a:srgbClr val="1A21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5418683" y="4403973"/>
            <a:ext cx="296346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600"/>
              </a:spcAft>
              <a:buNone/>
            </a:pPr>
            <a:r>
              <a:rPr lang="en-US" sz="700" b="1" dirty="0">
                <a:solidFill>
                  <a:srgbClr val="BF30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CHUYÊN GIA SMAX GỢI Ý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5418683" y="4689723"/>
            <a:ext cx="95399" cy="288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BF30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5577483" y="4683323"/>
            <a:ext cx="184770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50"/>
              </a:spcBef>
              <a:spcAft>
                <a:spcPts val="200"/>
              </a:spcAft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Thêm câu hỏi sàng lọc vào ad creative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5577483" y="4892873"/>
            <a:ext cx="184770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Junk 20% · Tác động: Cao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5418683" y="5270599"/>
            <a:ext cx="95399" cy="288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BF30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5577483" y="5264200"/>
            <a:ext cx="165601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50"/>
              </a:spcBef>
              <a:spcAft>
                <a:spcPts val="200"/>
              </a:spcAft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 phản hồi nhanh trong 5 phút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5577483" y="5473750"/>
            <a:ext cx="165601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Chốt đơn 15% · Tác động: Cao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33375"/>
          </a:xfrm>
          <a:prstGeom prst="rect">
            <a:avLst/>
          </a:prstGeom>
          <a:solidFill>
            <a:srgbClr val="1A21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114300"/>
            <a:ext cx="787419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BF30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CHUYÊN GIA SMAX — AI RECOMMENDATIONS ENGINE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34901" y="555575"/>
            <a:ext cx="421183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500"/>
              </a:spcAft>
              <a:buNone/>
            </a:pPr>
            <a:r>
              <a:rPr lang="en-US" sz="750" b="1" dirty="0">
                <a:solidFill>
                  <a:srgbClr val="BF30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LUỒNG XỬ LÝ AI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634901" y="723751"/>
            <a:ext cx="4211836" cy="1992957"/>
          </a:xfrm>
          <a:prstGeom prst="roundRect">
            <a:avLst>
              <a:gd name="adj" fmla="val 38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1a2138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87301" y="825252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1A21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62310" y="874365"/>
            <a:ext cx="5298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79302" y="933152"/>
            <a:ext cx="361503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50"/>
              </a:spcBef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Crawl hội thoại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79302" y="1072753"/>
            <a:ext cx="361503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5A5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 thập 1K–10K hội thoại từ Facebook / Zalo API theo ngành hàng đã chọn.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787301" y="1294954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1A21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62310" y="1344067"/>
            <a:ext cx="5298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079302" y="1402854"/>
            <a:ext cx="361503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50"/>
              </a:spcBef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Phân tích 9 nhóm bệnh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079302" y="1542455"/>
            <a:ext cx="361503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5A5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Rule-based + AI hybrid: tính metrics per nhóm (Junk%, CvR, objection, sentiment).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787301" y="1764655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1A21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62310" y="1813768"/>
            <a:ext cx="5298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079302" y="1872555"/>
            <a:ext cx="361503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50"/>
              </a:spcBef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Gọi Smax AI API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079302" y="2012156"/>
            <a:ext cx="361503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5A5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https://smaxai.cdp.vn/api/chat — streaming JSON, 24h localStorage cache.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787301" y="2234357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1A21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62310" y="2283470"/>
            <a:ext cx="5298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079302" y="2342257"/>
            <a:ext cx="361503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50"/>
              </a:spcBef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 checklist actions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079302" y="2481858"/>
            <a:ext cx="361503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5A5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 JSON → { actions[] } → hiển thị checklist với impact + Smax feature link.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634901" y="2818209"/>
            <a:ext cx="4211836" cy="1440656"/>
          </a:xfrm>
          <a:prstGeom prst="roundRect">
            <a:avLst>
              <a:gd name="adj" fmla="val 5289"/>
            </a:avLst>
          </a:prstGeom>
          <a:solidFill>
            <a:srgbClr val="1A21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206996" y="3021211"/>
            <a:ext cx="162520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Smax AI Prompt / Response Format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61851" y="3300413"/>
            <a:ext cx="3957935" cy="856952"/>
          </a:xfrm>
          <a:prstGeom prst="roundRect">
            <a:avLst>
              <a:gd name="adj" fmla="val 7410"/>
            </a:avLst>
          </a:prstGeom>
          <a:solidFill>
            <a:srgbClr val="0D15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863352" y="3376613"/>
            <a:ext cx="375493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8BA3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{"actions": [{"title":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863352" y="3494038"/>
            <a:ext cx="375493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8BA3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"Thêm câu hỏi sàng lọc",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863352" y="3611463"/>
            <a:ext cx="375493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8BA3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"smax_feature": "Auto-reply",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863352" y="3728889"/>
            <a:ext cx="375493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8BA3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"impact": "↓ Junk 20%",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863352" y="3846314"/>
            <a:ext cx="375493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8BA3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"steps": ["Bước 1...", "..."]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863352" y="3963739"/>
            <a:ext cx="375493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8BA3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}]}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4999137" y="460325"/>
            <a:ext cx="350996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750" b="1" dirty="0">
                <a:solidFill>
                  <a:srgbClr val="BF30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 CHECKLIST MẪU — LEAD QUALITY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999137" y="799951"/>
            <a:ext cx="3509963" cy="929878"/>
          </a:xfrm>
          <a:prstGeom prst="roundRect">
            <a:avLst>
              <a:gd name="adj" fmla="val 81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1a2138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551289" y="1009352"/>
            <a:ext cx="225385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50"/>
              </a:spcBef>
              <a:spcAft>
                <a:spcPts val="850"/>
              </a:spcAft>
              <a:buNone/>
            </a:pPr>
            <a:r>
              <a:rPr lang="en-US" sz="850" b="1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Thêm câu hỏi sàng lọc vào ad creative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7868543" y="1014115"/>
            <a:ext cx="51360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Junk 20%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5164187" y="1269653"/>
            <a:ext cx="32179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5A5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Chỉnh sửa ad copy trong Ads Manager. Test A/B trong 7 ngày.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5164187" y="1428304"/>
            <a:ext cx="321796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005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Smax Auto-reply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999137" y="1806029"/>
            <a:ext cx="3509963" cy="929878"/>
          </a:xfrm>
          <a:prstGeom prst="roundRect">
            <a:avLst>
              <a:gd name="adj" fmla="val 81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1a2138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551289" y="2015430"/>
            <a:ext cx="204876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50"/>
              </a:spcBef>
              <a:spcAft>
                <a:spcPts val="850"/>
              </a:spcAft>
              <a:buNone/>
            </a:pPr>
            <a:r>
              <a:rPr lang="en-US" sz="850" b="1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 phản hồi nhanh trong 5 phút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7663458" y="2020193"/>
            <a:ext cx="71869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Chốt đơn 15%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5164187" y="2275731"/>
            <a:ext cx="32179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5A5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Thiết lập KPI: phản hồi dưới 5 phút giờ hành chính.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5164187" y="2434382"/>
            <a:ext cx="321796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005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Smax Auto-reply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4999137" y="2812107"/>
            <a:ext cx="3509963" cy="929878"/>
          </a:xfrm>
          <a:prstGeom prst="roundRect">
            <a:avLst>
              <a:gd name="adj" fmla="val 81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1a2138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5526584" y="3021509"/>
            <a:ext cx="209877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50"/>
              </a:spcBef>
              <a:spcAft>
                <a:spcPts val="850"/>
              </a:spcAft>
              <a:buNone/>
            </a:pPr>
            <a:r>
              <a:rPr lang="en-US" sz="850" b="1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Auto-reply với template phân loại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7688759" y="3026271"/>
            <a:ext cx="69339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Phản hồi 30%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5164187" y="3281809"/>
            <a:ext cx="32179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5A5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Cài auto-reply phân loại: hỏi nhu cầu → gợi ý SP → thu SĐT.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5164187" y="3440460"/>
            <a:ext cx="321796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005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Smax Auto-reply + Chatbot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4999137" y="3818186"/>
            <a:ext cx="3509963" cy="704552"/>
          </a:xfrm>
          <a:prstGeom prst="roundRect">
            <a:avLst>
              <a:gd name="adj" fmla="val 108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1a2138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5526584" y="4027587"/>
            <a:ext cx="20740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50"/>
              </a:spcBef>
              <a:spcAft>
                <a:spcPts val="850"/>
              </a:spcAft>
              <a:buNone/>
            </a:pPr>
            <a:r>
              <a:rPr lang="en-US" sz="850" b="1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Đặt KPI nhân viên: junk rate ≤ 20%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7664053" y="4032349"/>
            <a:ext cx="71809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alignment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5164187" y="4287887"/>
            <a:ext cx="32179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5A5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Thiết lập chỉ tiêu per nhân viên. Review tuần với báo cáo breakdown.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33375"/>
          </a:xfrm>
          <a:prstGeom prst="rect">
            <a:avLst/>
          </a:prstGeom>
          <a:solidFill>
            <a:srgbClr val="1A21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114300"/>
            <a:ext cx="787419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BF30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KIẾN TRÚC HỆ THỐNG — MEDICALCHECKUP MODULE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34901" y="517475"/>
            <a:ext cx="787419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500"/>
              </a:spcAft>
              <a:buNone/>
            </a:pPr>
            <a:r>
              <a:rPr lang="en-US" sz="750" b="1" dirty="0">
                <a:solidFill>
                  <a:srgbClr val="BF30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TẦNG LAYER — FRONTEND → PROXY → AI → DATA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634901" y="685651"/>
            <a:ext cx="787419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Từ Wizard đến Hồ Sơ Bệnh Án Real-time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8526" y="981968"/>
            <a:ext cx="171450" cy="759470"/>
          </a:xfrm>
          <a:prstGeom prst="roundRect">
            <a:avLst>
              <a:gd name="adj" fmla="val 29630"/>
            </a:avLst>
          </a:prstGeom>
          <a:solidFill>
            <a:srgbClr val="1A21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282452" y="945952"/>
            <a:ext cx="2358033" cy="831652"/>
          </a:xfrm>
          <a:prstGeom prst="roundRect">
            <a:avLst>
              <a:gd name="adj" fmla="val 91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1a2138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396752" y="1136303"/>
            <a:ext cx="212943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MedicalCheckup.jsx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396752" y="1288703"/>
            <a:ext cx="212943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5A5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Wizard 5 bước + Dashboard real-time. React 19 + Tailwind v4.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396752" y="1593503"/>
            <a:ext cx="212943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005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 · Tailwind v4 · Recharts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3716685" y="945952"/>
            <a:ext cx="2358182" cy="831652"/>
          </a:xfrm>
          <a:prstGeom prst="roundRect">
            <a:avLst>
              <a:gd name="adj" fmla="val 91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1a2138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830985" y="1136303"/>
            <a:ext cx="212958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MedicalService.js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830985" y="1288703"/>
            <a:ext cx="212958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5A5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Tính metrics, chẩn đoán 9 nhóm bệnh, mock trend 7 ngày.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830985" y="1593503"/>
            <a:ext cx="212958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005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medicalService.js · localStorage cache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6151066" y="945952"/>
            <a:ext cx="2358033" cy="831652"/>
          </a:xfrm>
          <a:prstGeom prst="roundRect">
            <a:avLst>
              <a:gd name="adj" fmla="val 91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1a2138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265366" y="1136303"/>
            <a:ext cx="212943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SmaxAIService.js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265366" y="1288703"/>
            <a:ext cx="212943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5A5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Streaming wrapper cho Smax AI API, cache 24h, JSON parser.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6265366" y="1593503"/>
            <a:ext cx="212943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005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 · ReadableStream · JSON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1282601" y="2018705"/>
            <a:ext cx="76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BF30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69802" y="2367855"/>
            <a:ext cx="6604397" cy="12650"/>
          </a:xfrm>
          <a:prstGeom prst="rect">
            <a:avLst/>
          </a:prstGeom>
          <a:solidFill>
            <a:srgbClr val="1A21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28526" y="2478881"/>
            <a:ext cx="171450" cy="501551"/>
          </a:xfrm>
          <a:prstGeom prst="roundRect">
            <a:avLst>
              <a:gd name="adj" fmla="val 29630"/>
            </a:avLst>
          </a:prstGeom>
          <a:solidFill>
            <a:srgbClr val="0052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282452" y="2380506"/>
            <a:ext cx="3575149" cy="698302"/>
          </a:xfrm>
          <a:prstGeom prst="roundRect">
            <a:avLst>
              <a:gd name="adj" fmla="val 109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1a2138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396752" y="2570857"/>
            <a:ext cx="334654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api/smax-chat.js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396752" y="2723257"/>
            <a:ext cx="33465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5A5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Serverless proxy chống CORS. POST → smaxai.cdp.vn.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396752" y="2894707"/>
            <a:ext cx="334654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005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Edge · Node.js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4933801" y="2380506"/>
            <a:ext cx="3575298" cy="698302"/>
          </a:xfrm>
          <a:prstGeom prst="roundRect">
            <a:avLst>
              <a:gd name="adj" fmla="val 109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1a2138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048101" y="2570857"/>
            <a:ext cx="334669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supabaseLanding.js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048101" y="2723257"/>
            <a:ext cx="33466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5A5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fetch đến Supabase REST API. Lưu lead capture.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048101" y="2894707"/>
            <a:ext cx="334669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005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 · Supabase REST API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1282601" y="3319909"/>
            <a:ext cx="76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BF30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269802" y="3669060"/>
            <a:ext cx="6604397" cy="12650"/>
          </a:xfrm>
          <a:prstGeom prst="rect">
            <a:avLst/>
          </a:prstGeom>
          <a:solidFill>
            <a:srgbClr val="1A21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828526" y="3910310"/>
            <a:ext cx="171450" cy="241102"/>
          </a:xfrm>
          <a:prstGeom prst="roundRect">
            <a:avLst>
              <a:gd name="adj" fmla="val 29630"/>
            </a:avLst>
          </a:prstGeom>
          <a:solidFill>
            <a:srgbClr val="BF300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1282452" y="3681710"/>
            <a:ext cx="3575149" cy="698302"/>
          </a:xfrm>
          <a:prstGeom prst="roundRect">
            <a:avLst>
              <a:gd name="adj" fmla="val 109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1a2138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1396752" y="3872061"/>
            <a:ext cx="334654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smaxai.cdp.vn/api/chat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396752" y="4024461"/>
            <a:ext cx="33465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5A5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Smax AI endpoint, nhận JSON prompt, trả streaming JSON actions[].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396752" y="4195911"/>
            <a:ext cx="334654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005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· x-api-key · Streaming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4933801" y="3681710"/>
            <a:ext cx="3575298" cy="698302"/>
          </a:xfrm>
          <a:prstGeom prst="roundRect">
            <a:avLst>
              <a:gd name="adj" fmla="val 109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1a2138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048101" y="3872061"/>
            <a:ext cx="334669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AI (token.ai.vn)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048101" y="4024461"/>
            <a:ext cx="33466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5A5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engine cho tạo Insight từ scratch — Track A Tạo Insight.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5048101" y="4195911"/>
            <a:ext cx="334669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005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GPT-4.1-mini · Custom AI API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1282601" y="4621113"/>
            <a:ext cx="76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BF30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269802" y="4970264"/>
            <a:ext cx="6604397" cy="12650"/>
          </a:xfrm>
          <a:prstGeom prst="rect">
            <a:avLst/>
          </a:prstGeom>
          <a:solidFill>
            <a:srgbClr val="1A21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828526" y="5126385"/>
            <a:ext cx="171450" cy="411361"/>
          </a:xfrm>
          <a:prstGeom prst="roundRect">
            <a:avLst>
              <a:gd name="adj" fmla="val 29630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1282452" y="4982914"/>
            <a:ext cx="3575149" cy="698302"/>
          </a:xfrm>
          <a:prstGeom prst="roundRect">
            <a:avLst>
              <a:gd name="adj" fmla="val 109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1a2138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1396752" y="5173266"/>
            <a:ext cx="334654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JSON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1396752" y="5325666"/>
            <a:ext cx="33465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5A5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3,462 hội thoại × 42 templates × 7 ngành. Nguồn conversations.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1396752" y="5497116"/>
            <a:ext cx="334654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005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db.cdp.vn · REST API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4933801" y="4982914"/>
            <a:ext cx="3575298" cy="698302"/>
          </a:xfrm>
          <a:prstGeom prst="roundRect">
            <a:avLst>
              <a:gd name="adj" fmla="val 109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1a2138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5048101" y="5173266"/>
            <a:ext cx="334669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1A2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localStorage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5048101" y="5325666"/>
            <a:ext cx="33466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5A5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Smax AI cache (24h TTL) · Medical records · Saved actions.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5048101" y="5497116"/>
            <a:ext cx="334669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005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localStorage · JSON serialization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634901" y="5770066"/>
            <a:ext cx="7874198" cy="523577"/>
          </a:xfrm>
          <a:prstGeom prst="roundRect">
            <a:avLst>
              <a:gd name="adj" fmla="val 14554"/>
            </a:avLst>
          </a:prstGeom>
          <a:solidFill>
            <a:srgbClr val="1A21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812602" y="5984230"/>
            <a:ext cx="68341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4A5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1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BF300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355402"/>
            <a:ext cx="501922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BF30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LUẬN &amp; CALL TO ACTION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34901" y="571202"/>
            <a:ext cx="5019229" cy="642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3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Khám Bệnh Hội Thoại — Bước tiếp theo của doanh nghiệp thông minh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34901" y="1315045"/>
            <a:ext cx="5019229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5"/>
              </a:lnSpc>
              <a:spcAft>
                <a:spcPts val="1000"/>
              </a:spcAft>
              <a:buNone/>
            </a:pPr>
            <a:r>
              <a:rPr lang="en-US" sz="950" dirty="0">
                <a:solidFill>
                  <a:srgbClr val="8BA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còn đoán già đoán non. Giờ đây, mỗi tuần bạn biết chính xác: junk lead đang tăng hay giảm, nhân viên nào tư vấn tốt nhất, đối thủ cướp khách ở đâu.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34901" y="1803946"/>
            <a:ext cx="634901" cy="38100"/>
          </a:xfrm>
          <a:prstGeom prst="rect">
            <a:avLst/>
          </a:prstGeom>
          <a:solidFill>
            <a:srgbClr val="BF300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34901" y="2146846"/>
            <a:ext cx="1141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50553" y="2108746"/>
            <a:ext cx="436855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trong 3 giây — CEO/CMO không cần click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50553" y="2267396"/>
            <a:ext cx="4368552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8BA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thiết kế cho người lãnh đạo: điểm sức khỏe tổng + nhóm nào kéo tụt + action ưu tiên.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34901" y="2778621"/>
            <a:ext cx="1141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50553" y="2740521"/>
            <a:ext cx="48031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Hồ sơ bệnh án cập nhật real-time mỗi ngày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50553" y="2899172"/>
            <a:ext cx="4803130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8BA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Gamification loop: action đúng → metrics cải thiện → thấy kết quả → tiếp tục. Không phải báo cáo một lần.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34901" y="3410396"/>
            <a:ext cx="1141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50553" y="3372296"/>
            <a:ext cx="480357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Chuyên gia Smax gợi ý hành động cụ thể — có impact ước tính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50553" y="3530947"/>
            <a:ext cx="4803577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8BA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Mỗi action đều kèm feature Smax phù hợp để triển khai ngay. Xuất báo cáo PDF đầy đủ trình bày cho team/sếp.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806529" y="1138386"/>
            <a:ext cx="2702570" cy="1330226"/>
          </a:xfrm>
          <a:prstGeom prst="roundRect">
            <a:avLst>
              <a:gd name="adj" fmla="val 7638"/>
            </a:avLst>
          </a:prstGeom>
          <a:solidFill>
            <a:srgbClr val="0D15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958929" y="1290786"/>
            <a:ext cx="2397770" cy="558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400"/>
              </a:lnSpc>
              <a:buNone/>
            </a:pPr>
            <a:r>
              <a:rPr lang="en-US" sz="4400" b="1" dirty="0">
                <a:solidFill>
                  <a:srgbClr val="BF30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6.4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5958929" y="1900386"/>
            <a:ext cx="23977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8BA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ĐIỂM SỨC KHỎE MẪU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958929" y="2116187"/>
            <a:ext cx="239777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4A5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Thời trang · 3,462 hội thoại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5806529" y="2570113"/>
            <a:ext cx="1313111" cy="793552"/>
          </a:xfrm>
          <a:prstGeom prst="roundRect">
            <a:avLst>
              <a:gd name="adj" fmla="val 9602"/>
            </a:avLst>
          </a:prstGeom>
          <a:solidFill>
            <a:srgbClr val="0D15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908030" y="2735163"/>
            <a:ext cx="111010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300"/>
              </a:spcAft>
              <a:buNone/>
            </a:pPr>
            <a:r>
              <a:rPr lang="en-US" sz="700" dirty="0">
                <a:solidFill>
                  <a:srgbClr val="4A5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JUNK LEAD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5908030" y="2868513"/>
            <a:ext cx="111010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F30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23%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908030" y="3103364"/>
            <a:ext cx="111010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4A5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Action ngay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7195840" y="2570113"/>
            <a:ext cx="1313259" cy="793552"/>
          </a:xfrm>
          <a:prstGeom prst="roundRect">
            <a:avLst>
              <a:gd name="adj" fmla="val 9602"/>
            </a:avLst>
          </a:prstGeom>
          <a:solidFill>
            <a:srgbClr val="0D15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297341" y="2735163"/>
            <a:ext cx="111025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300"/>
              </a:spcAft>
              <a:buNone/>
            </a:pPr>
            <a:r>
              <a:rPr lang="en-US" sz="700" dirty="0">
                <a:solidFill>
                  <a:srgbClr val="4A5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ĐÃ ACTION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7297341" y="2868513"/>
            <a:ext cx="111025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297341" y="3103364"/>
            <a:ext cx="111025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4A5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Tuần này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-634901" y="4375249"/>
            <a:ext cx="10413802" cy="768251"/>
          </a:xfrm>
          <a:prstGeom prst="rect">
            <a:avLst/>
          </a:prstGeom>
          <a:solidFill>
            <a:srgbClr val="BF300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0" y="4606975"/>
            <a:ext cx="780201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Bắt đầu khám bệnh cho hội thoại của bạn ngay hôm nay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0" y="4797475"/>
            <a:ext cx="780201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nối Fanpage → Khai báo ngành → Xem hồ sơ bệnh án trong 5 phút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Khám Bệnh Hội Thoại — PRD v1.1</dc:title>
  <dc:subject>AI Diagnostics · 9 Nhóm Bệnh · Chuyên gia Smax Gợi Ý</dc:subject>
  <dc:creator>Smax AI</dc:creator>
  <cp:lastModifiedBy>Smax AI</cp:lastModifiedBy>
  <cp:revision>1</cp:revision>
  <dcterms:created xsi:type="dcterms:W3CDTF">2026-03-30T17:15:37Z</dcterms:created>
  <dcterms:modified xsi:type="dcterms:W3CDTF">2026-03-30T17:15:37Z</dcterms:modified>
</cp:coreProperties>
</file>