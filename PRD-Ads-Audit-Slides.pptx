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1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60984" y="2059037"/>
            <a:ext cx="4821882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Khám Bệnh Quảng Cáo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930003" y="2681288"/>
            <a:ext cx="528384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800"/>
              </a:spcAft>
              <a:buNone/>
            </a:pPr>
            <a:r>
              <a:rPr lang="en-US" sz="1300" dirty="0">
                <a:solidFill>
                  <a:srgbClr val="8BA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Phân tích hành trình khách hàng đa kênh: Ads → Hội thoại → Đơn hàng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191000" y="3236863"/>
            <a:ext cx="762000" cy="38100"/>
          </a:xfrm>
          <a:prstGeom prst="rect">
            <a:avLst/>
          </a:prstGeom>
          <a:solidFill>
            <a:srgbClr val="BF300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136255" y="3528864"/>
            <a:ext cx="28713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PRD v1.0 · 2026-03-28 · Smax AI Diagnostics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0" y="5067300"/>
            <a:ext cx="9144000" cy="76200"/>
          </a:xfrm>
          <a:prstGeom prst="rect">
            <a:avLst/>
          </a:prstGeom>
          <a:solidFill>
            <a:srgbClr val="BF300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1A21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76200"/>
            <a:ext cx="9144000" cy="727025"/>
          </a:xfrm>
          <a:prstGeom prst="rect">
            <a:avLst/>
          </a:prstGeom>
          <a:solidFill>
            <a:srgbClr val="1A21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55550" y="228600"/>
            <a:ext cx="843289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BF30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TỔNG QUAN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55550" y="381000"/>
            <a:ext cx="8432899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Loop &amp; Target Users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55550" y="1241227"/>
            <a:ext cx="4089499" cy="2411760"/>
          </a:xfrm>
          <a:prstGeom prst="roundRect">
            <a:avLst>
              <a:gd name="adj" fmla="val 3160"/>
            </a:avLst>
          </a:prstGeom>
          <a:solidFill>
            <a:srgbClr val="1A21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82501" y="1368177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BF300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55724" y="1412677"/>
            <a:ext cx="5655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87152" y="1403003"/>
            <a:ext cx="22639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Khám Hội Thoại (lần đầu) → Unlock Tab Ads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82501" y="1634728"/>
            <a:ext cx="383559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BF30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2501" y="1841004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BF300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55724" y="1885504"/>
            <a:ext cx="5655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87152" y="1875830"/>
            <a:ext cx="20066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nối tài khoản Ads → Wizard 4 bước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2501" y="2107555"/>
            <a:ext cx="383559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BF30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2501" y="2313831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BF300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55724" y="2358330"/>
            <a:ext cx="5655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87152" y="2348657"/>
            <a:ext cx="15918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Dashboard: Funnel + Bệnh Ads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2501" y="2580382"/>
            <a:ext cx="383559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BF30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2501" y="2786658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BF300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55724" y="2831157"/>
            <a:ext cx="5655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87152" y="2821484"/>
            <a:ext cx="176822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 thấy ROAS thực + Chi phí "Ảo"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2501" y="3053209"/>
            <a:ext cx="383559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BF30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2501" y="3259485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BF300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55724" y="3303984"/>
            <a:ext cx="5655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87152" y="3294311"/>
            <a:ext cx="25337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theo gợi ý Smax → cải thiện ngày hôm sau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698950" y="1241227"/>
            <a:ext cx="4089499" cy="475952"/>
          </a:xfrm>
          <a:prstGeom prst="roundRect">
            <a:avLst>
              <a:gd name="adj" fmla="val 1601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873526" y="1342727"/>
            <a:ext cx="378797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BF30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· CHỦ SHOP NHỎ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873526" y="1482328"/>
            <a:ext cx="37879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A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"Tôi đang losing bao nhiêu tiền vào ads rác?"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698950" y="1806029"/>
            <a:ext cx="4089499" cy="475952"/>
          </a:xfrm>
          <a:prstGeom prst="roundRect">
            <a:avLst>
              <a:gd name="adj" fmla="val 1601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873526" y="1907530"/>
            <a:ext cx="378797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005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· MARKETING MANAGER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873526" y="2047131"/>
            <a:ext cx="37879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A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"Chiến dịch nào thực sự chuyển đổi thành đơn?"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698950" y="2370832"/>
            <a:ext cx="4089499" cy="475952"/>
          </a:xfrm>
          <a:prstGeom prst="roundRect">
            <a:avLst>
              <a:gd name="adj" fmla="val 1601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873526" y="2472333"/>
            <a:ext cx="378797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· CEO / CHỦ DOANH NGHIỆP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873526" y="2611934"/>
            <a:ext cx="37879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A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"Tổng chi phí có đáng không? ROAS thật vs ảo?"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698950" y="3310086"/>
            <a:ext cx="4089499" cy="907852"/>
          </a:xfrm>
          <a:prstGeom prst="roundRect">
            <a:avLst>
              <a:gd name="adj" fmla="val 839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873526" y="3437037"/>
            <a:ext cx="37879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BF30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 Ads chỉ active khi: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873526" y="3633788"/>
            <a:ext cx="378797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1A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localStorage có ≥1 medical record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873526" y="3786188"/>
            <a:ext cx="378797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1A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Đã khám Hội Thoại ≥1 lần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873526" y="3938588"/>
            <a:ext cx="378797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1A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Check: getMedicalHistory().length &gt; 0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1A21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76200"/>
            <a:ext cx="9144000" cy="727025"/>
          </a:xfrm>
          <a:prstGeom prst="rect">
            <a:avLst/>
          </a:prstGeom>
          <a:solidFill>
            <a:srgbClr val="1A21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55550" y="228600"/>
            <a:ext cx="843289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BF30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LUỒNG NGƯỜI DÙNG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55550" y="381000"/>
            <a:ext cx="8432899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Wizard 4 Bước — Ads Medical Checkup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53901" y="1193602"/>
            <a:ext cx="4229249" cy="1155353"/>
          </a:xfrm>
          <a:prstGeom prst="roundRect">
            <a:avLst>
              <a:gd name="adj" fmla="val 659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53901" y="1193602"/>
            <a:ext cx="4229249" cy="381000"/>
          </a:xfrm>
          <a:prstGeom prst="rect">
            <a:avLst/>
          </a:prstGeom>
          <a:solidFill>
            <a:srgbClr val="1A21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55402" y="1269802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BF300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41424" y="1326952"/>
            <a:ext cx="5655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72852" y="1317427"/>
            <a:ext cx="9526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nối Tài khoản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55402" y="1663452"/>
            <a:ext cx="402624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1A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Chọn nền tảng quảng cáo: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5402" y="2095054"/>
            <a:ext cx="402624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800" dirty="0">
                <a:solidFill>
                  <a:srgbClr val="1A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Nhấn nút → 2-3s loading → auto chuyển Step 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53901" y="2726680"/>
            <a:ext cx="4229249" cy="1053852"/>
          </a:xfrm>
          <a:prstGeom prst="roundRect">
            <a:avLst>
              <a:gd name="adj" fmla="val 723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53901" y="2726680"/>
            <a:ext cx="4229249" cy="381000"/>
          </a:xfrm>
          <a:prstGeom prst="rect">
            <a:avLst/>
          </a:prstGeom>
          <a:solidFill>
            <a:srgbClr val="1A21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55402" y="2802880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BF300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41424" y="2860030"/>
            <a:ext cx="5655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72852" y="2850505"/>
            <a:ext cx="9208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Chọn Chiến Dịch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55402" y="3196530"/>
            <a:ext cx="402624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1A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Checkbox multi-select, mặc định tất cả checked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55402" y="3361581"/>
            <a:ext cx="402624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1A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Filter: Tất cả · Facebook · Zalo · Đang chạy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55402" y="3526631"/>
            <a:ext cx="402624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1A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Hiển thị: Budget · ROAS · Spend · Đơn hàng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660850" y="1193602"/>
            <a:ext cx="4229249" cy="990302"/>
          </a:xfrm>
          <a:prstGeom prst="roundRect">
            <a:avLst>
              <a:gd name="adj" fmla="val 769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660850" y="1193602"/>
            <a:ext cx="4229249" cy="381000"/>
          </a:xfrm>
          <a:prstGeom prst="rect">
            <a:avLst/>
          </a:prstGeom>
          <a:solidFill>
            <a:srgbClr val="1A21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762351" y="1269802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BF300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848374" y="1326952"/>
            <a:ext cx="5655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079802" y="1317427"/>
            <a:ext cx="9526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Chọn Date Range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762351" y="1930003"/>
            <a:ext cx="402624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800" dirty="0">
                <a:solidFill>
                  <a:srgbClr val="1A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Ước tính: 2 chiến dịch × 7 ngày = ~350 đơn hàng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660850" y="2561630"/>
            <a:ext cx="4229249" cy="1082427"/>
          </a:xfrm>
          <a:prstGeom prst="roundRect">
            <a:avLst>
              <a:gd name="adj" fmla="val 704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660850" y="2561630"/>
            <a:ext cx="4229249" cy="381000"/>
          </a:xfrm>
          <a:prstGeom prst="rect">
            <a:avLst/>
          </a:prstGeom>
          <a:solidFill>
            <a:srgbClr val="1A21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762351" y="2637830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BF300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848374" y="2694980"/>
            <a:ext cx="5655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079802" y="2685455"/>
            <a:ext cx="134391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Bar + Diseases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762351" y="3031480"/>
            <a:ext cx="402624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1A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Progress: ████████░░░ 60%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762351" y="3196530"/>
            <a:ext cx="402624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1A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nhóm bệnh: ✅ Done · ◉ In-Progress · ○ Pending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762351" y="3390156"/>
            <a:ext cx="402624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1A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 chuyển Dashboard khi progress = 100%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1A21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76200"/>
            <a:ext cx="9144000" cy="727025"/>
          </a:xfrm>
          <a:prstGeom prst="rect">
            <a:avLst/>
          </a:prstGeom>
          <a:solidFill>
            <a:srgbClr val="1A21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55550" y="228600"/>
            <a:ext cx="843289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BF30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DASHBOARD — FUNNEL TOÀN CẢNH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55550" y="381000"/>
            <a:ext cx="8432899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Funnel Attribution: Ads → Hội thoại → Đơn hàng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04800" y="1295251"/>
            <a:ext cx="1218902" cy="444103"/>
          </a:xfrm>
          <a:prstGeom prst="rect">
            <a:avLst/>
          </a:prstGeom>
          <a:solidFill>
            <a:srgbClr val="1A21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06301" y="1460153"/>
            <a:ext cx="101590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625203" y="1441103"/>
            <a:ext cx="2612827" cy="152400"/>
          </a:xfrm>
          <a:prstGeom prst="roundRect">
            <a:avLst>
              <a:gd name="adj" fmla="val 25000"/>
            </a:avLst>
          </a:prstGeom>
          <a:solidFill>
            <a:srgbClr val="1A21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314230" y="1460153"/>
            <a:ext cx="4572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1,245,000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04800" y="1929705"/>
            <a:ext cx="4568130" cy="9525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1A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· Chi phí phát sinh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304800" y="2177207"/>
            <a:ext cx="1218902" cy="444103"/>
          </a:xfrm>
          <a:prstGeom prst="rect">
            <a:avLst/>
          </a:prstGeom>
          <a:solidFill>
            <a:srgbClr val="1A21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06301" y="2342108"/>
            <a:ext cx="101590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625203" y="2323058"/>
            <a:ext cx="2612827" cy="152400"/>
          </a:xfrm>
          <a:prstGeom prst="roundRect">
            <a:avLst>
              <a:gd name="adj" fmla="val 25000"/>
            </a:avLst>
          </a:prstGeom>
          <a:solidFill>
            <a:srgbClr val="0052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314230" y="2342108"/>
            <a:ext cx="4572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18,420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04800" y="2811661"/>
            <a:ext cx="4568130" cy="9525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1A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1.48% CTR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304800" y="3059162"/>
            <a:ext cx="1218902" cy="444103"/>
          </a:xfrm>
          <a:prstGeom prst="rect">
            <a:avLst/>
          </a:prstGeom>
          <a:solidFill>
            <a:srgbClr val="1A21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06301" y="3224064"/>
            <a:ext cx="101590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Hội thoại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625203" y="3205014"/>
            <a:ext cx="2612827" cy="152400"/>
          </a:xfrm>
          <a:prstGeom prst="roundRect">
            <a:avLst>
              <a:gd name="adj" fmla="val 25000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314230" y="3224064"/>
            <a:ext cx="4572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368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04800" y="3693616"/>
            <a:ext cx="4568130" cy="9525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1A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2.00% của clicks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304800" y="3941118"/>
            <a:ext cx="1218902" cy="444103"/>
          </a:xfrm>
          <a:prstGeom prst="rect">
            <a:avLst/>
          </a:prstGeom>
          <a:solidFill>
            <a:srgbClr val="1A21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06301" y="4106019"/>
            <a:ext cx="101590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Đơn hàng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625203" y="4086969"/>
            <a:ext cx="2612827" cy="152400"/>
          </a:xfrm>
          <a:prstGeom prst="roundRect">
            <a:avLst>
              <a:gd name="adj" fmla="val 25000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314230" y="4106019"/>
            <a:ext cx="4572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04800" y="4575572"/>
            <a:ext cx="4568130" cy="9525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1A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24.2% của hội thoại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5101530" y="1295251"/>
            <a:ext cx="3737670" cy="647402"/>
          </a:xfrm>
          <a:prstGeom prst="roundRect">
            <a:avLst>
              <a:gd name="adj" fmla="val 1177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276106" y="1396752"/>
            <a:ext cx="343614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1A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SĐT thu thập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276106" y="1536353"/>
            <a:ext cx="343614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5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24.2%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276106" y="1745903"/>
            <a:ext cx="343614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B7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 / 368 hội thoại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5101530" y="2145804"/>
            <a:ext cx="3737670" cy="647402"/>
          </a:xfrm>
          <a:prstGeom prst="roundRect">
            <a:avLst>
              <a:gd name="adj" fmla="val 1177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276106" y="2247305"/>
            <a:ext cx="343614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1A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Attribution Matched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276106" y="2386905"/>
            <a:ext cx="343614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5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75.3%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276106" y="2596455"/>
            <a:ext cx="343614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B7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 / 89 đơn có SĐT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5101530" y="2996357"/>
            <a:ext cx="3737670" cy="647402"/>
          </a:xfrm>
          <a:prstGeom prst="roundRect">
            <a:avLst>
              <a:gd name="adj" fmla="val 1177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5276106" y="3097857"/>
            <a:ext cx="343614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1A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Untracked Orders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276106" y="3237458"/>
            <a:ext cx="343614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đơn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276106" y="3447008"/>
            <a:ext cx="343614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B7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match được nguồn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5101530" y="3846909"/>
            <a:ext cx="3737670" cy="742652"/>
          </a:xfrm>
          <a:prstGeom prst="roundRect">
            <a:avLst>
              <a:gd name="adj" fmla="val 10261"/>
            </a:avLst>
          </a:prstGeom>
          <a:solidFill>
            <a:srgbClr val="BF300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5228481" y="3948410"/>
            <a:ext cx="34837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Chi Phí Ảo Phát Hiện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228481" y="4129385"/>
            <a:ext cx="348376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39.3M VND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5228481" y="4392811"/>
            <a:ext cx="348376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Đơn không truy xuất nguồn từ Ads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1A21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76200"/>
            <a:ext cx="9144000" cy="727025"/>
          </a:xfrm>
          <a:prstGeom prst="rect">
            <a:avLst/>
          </a:prstGeom>
          <a:solidFill>
            <a:srgbClr val="1A21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55550" y="228600"/>
            <a:ext cx="843289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BF30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DASHBOARD — ROAS BREAKDOWN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55550" y="381000"/>
            <a:ext cx="8432899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ROAS Thực vs Báo Cáo — Theo Chiến Dịch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04800" y="1142851"/>
            <a:ext cx="4165550" cy="1269802"/>
          </a:xfrm>
          <a:prstGeom prst="roundRect">
            <a:avLst>
              <a:gd name="adj" fmla="val 600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04800" y="1142851"/>
            <a:ext cx="4165550" cy="304800"/>
          </a:xfrm>
          <a:prstGeom prst="rect">
            <a:avLst/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31750" y="1228576"/>
            <a:ext cx="271551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Spring Sale 2026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71888" y="1219051"/>
            <a:ext cx="67151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Scale Up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31750" y="1536502"/>
            <a:ext cx="8889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A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ROAS gốc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320701" y="1542901"/>
            <a:ext cx="2418159" cy="101501"/>
          </a:xfrm>
          <a:prstGeom prst="roundRect">
            <a:avLst>
              <a:gd name="adj" fmla="val 25024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802261" y="1536502"/>
            <a:ext cx="3555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A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4.0x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31750" y="1701552"/>
            <a:ext cx="8889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A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ROAS thực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320701" y="1707952"/>
            <a:ext cx="1934468" cy="101501"/>
          </a:xfrm>
          <a:prstGeom prst="roundRect">
            <a:avLst>
              <a:gd name="adj" fmla="val 25024"/>
            </a:avLst>
          </a:prstGeom>
          <a:solidFill>
            <a:srgbClr val="BF300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318570" y="1701552"/>
            <a:ext cx="3555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A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3.2x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737521" y="1711077"/>
            <a:ext cx="32012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BF30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 -20%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431750" y="1866602"/>
            <a:ext cx="8889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1A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Đơn: 164 · Matched: 131 (79.9%) · Untracked: 33 đơn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04800" y="2514154"/>
            <a:ext cx="4165550" cy="1155502"/>
          </a:xfrm>
          <a:prstGeom prst="roundRect">
            <a:avLst>
              <a:gd name="adj" fmla="val 659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04800" y="2514154"/>
            <a:ext cx="4165550" cy="304800"/>
          </a:xfrm>
          <a:prstGeom prst="rect">
            <a:avLst/>
          </a:prstGeom>
          <a:solidFill>
            <a:srgbClr val="0052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31750" y="2599879"/>
            <a:ext cx="271551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Retargeting - Cart Abandoned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671888" y="2590354"/>
            <a:ext cx="67151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Scale Up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31750" y="2907804"/>
            <a:ext cx="8889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A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ROAS gốc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320701" y="2914204"/>
            <a:ext cx="1934468" cy="101501"/>
          </a:xfrm>
          <a:prstGeom prst="roundRect">
            <a:avLst>
              <a:gd name="adj" fmla="val 25024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318570" y="2907804"/>
            <a:ext cx="3555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A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3.2x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31750" y="3072854"/>
            <a:ext cx="8889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A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ROAS thực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320701" y="3079254"/>
            <a:ext cx="1753046" cy="101501"/>
          </a:xfrm>
          <a:prstGeom prst="roundRect">
            <a:avLst>
              <a:gd name="adj" fmla="val 25024"/>
            </a:avLst>
          </a:prstGeom>
          <a:solidFill>
            <a:srgbClr val="BF300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3137148" y="3072854"/>
            <a:ext cx="3555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A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2.9x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556099" y="3082379"/>
            <a:ext cx="27071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BF30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 -9%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431750" y="3237905"/>
            <a:ext cx="8889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1A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Đơn: 67 · Matched: 58 (86.6%) · Untracked: 9 đơn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673501" y="1142851"/>
            <a:ext cx="4165699" cy="1155502"/>
          </a:xfrm>
          <a:prstGeom prst="roundRect">
            <a:avLst>
              <a:gd name="adj" fmla="val 659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673501" y="1142851"/>
            <a:ext cx="4165699" cy="304800"/>
          </a:xfrm>
          <a:prstGeom prst="rect">
            <a:avLst/>
          </a:prstGeom>
          <a:solidFill>
            <a:srgbClr val="D9770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800451" y="1228576"/>
            <a:ext cx="28045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Awareness March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129588" y="1219051"/>
            <a:ext cx="58266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Review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00451" y="1536502"/>
            <a:ext cx="8889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A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ROAS gốc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689402" y="1542901"/>
            <a:ext cx="1088082" cy="101501"/>
          </a:xfrm>
          <a:prstGeom prst="roundRect">
            <a:avLst>
              <a:gd name="adj" fmla="val 25024"/>
            </a:avLst>
          </a:prstGeom>
          <a:solidFill>
            <a:srgbClr val="D9770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6840885" y="1536502"/>
            <a:ext cx="3555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A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1.8x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800451" y="1701552"/>
            <a:ext cx="8889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A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ROAS thực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689402" y="1707952"/>
            <a:ext cx="543967" cy="101501"/>
          </a:xfrm>
          <a:prstGeom prst="roundRect">
            <a:avLst>
              <a:gd name="adj" fmla="val 25024"/>
            </a:avLst>
          </a:prstGeom>
          <a:solidFill>
            <a:srgbClr val="BF300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6296769" y="1701552"/>
            <a:ext cx="3555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A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0.9x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715720" y="1711077"/>
            <a:ext cx="32012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BF30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 -50%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4800451" y="1866602"/>
            <a:ext cx="8889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1A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Đơn: 31 · Matched: 14 (45.2%) · Untracked: 17 đơn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673501" y="2688729"/>
            <a:ext cx="1320850" cy="695027"/>
          </a:xfrm>
          <a:prstGeom prst="roundRect">
            <a:avLst>
              <a:gd name="adj" fmla="val 1096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4775002" y="2828330"/>
            <a:ext cx="111784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6B7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ROAS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4775002" y="2948880"/>
            <a:ext cx="111784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2.4x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4775002" y="3187005"/>
            <a:ext cx="111784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B7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Trung bình gốc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6095851" y="2688729"/>
            <a:ext cx="1320998" cy="695027"/>
          </a:xfrm>
          <a:prstGeom prst="roundRect">
            <a:avLst>
              <a:gd name="adj" fmla="val 1096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6197352" y="2828330"/>
            <a:ext cx="111799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6B7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ROAS THỰC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6197352" y="2948880"/>
            <a:ext cx="111799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1.9x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197352" y="3187005"/>
            <a:ext cx="111799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B7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Sau attribution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7518350" y="2688729"/>
            <a:ext cx="1320850" cy="695027"/>
          </a:xfrm>
          <a:prstGeom prst="roundRect">
            <a:avLst>
              <a:gd name="adj" fmla="val 1096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7619851" y="2828330"/>
            <a:ext cx="111784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6B7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 PHÍ ẢO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7619851" y="2948880"/>
            <a:ext cx="111784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39.3M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7619851" y="3187005"/>
            <a:ext cx="111784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B7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Untracked revenue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1A21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76200"/>
            <a:ext cx="9144000" cy="727025"/>
          </a:xfrm>
          <a:prstGeom prst="rect">
            <a:avLst/>
          </a:prstGeom>
          <a:solidFill>
            <a:srgbClr val="1A21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55550" y="228600"/>
            <a:ext cx="843289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BF30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NHÓM BỆNH ADS — TRANG 1/2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55550" y="381000"/>
            <a:ext cx="8432899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Nhóm Bệnh Chẩn Đoán (Phần 1)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53901" y="1209526"/>
            <a:ext cx="4229249" cy="799505"/>
          </a:xfrm>
          <a:prstGeom prst="roundRect">
            <a:avLst>
              <a:gd name="adj" fmla="val 794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53901" y="1209526"/>
            <a:ext cx="4229249" cy="272653"/>
          </a:xfrm>
          <a:prstGeom prst="rect">
            <a:avLst/>
          </a:prstGeom>
          <a:solidFill>
            <a:srgbClr val="BF300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20192" y="1288703"/>
            <a:ext cx="320293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ROAS Thực Thấp Hơn Báo Cáo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099322" y="1288703"/>
            <a:ext cx="28232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2.4/10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55402" y="1555105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BF300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95002" y="1545580"/>
            <a:ext cx="167788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A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ROAS gốc: 4.0x → Thực: 3.2x (lệch -20%)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355402" y="1688455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D9770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95002" y="1678930"/>
            <a:ext cx="178712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A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Matched: 79.9% · Untracked: 33 đơn (13.2M)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355402" y="1821805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0052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95002" y="1812280"/>
            <a:ext cx="9239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A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Attribution: 3 chiến dịch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253901" y="2377232"/>
            <a:ext cx="4229249" cy="799505"/>
          </a:xfrm>
          <a:prstGeom prst="roundRect">
            <a:avLst>
              <a:gd name="adj" fmla="val 794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53901" y="2377232"/>
            <a:ext cx="4229249" cy="272653"/>
          </a:xfrm>
          <a:prstGeom prst="rect">
            <a:avLst/>
          </a:prstGeom>
          <a:solidFill>
            <a:srgbClr val="D9770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116360" y="2456408"/>
            <a:ext cx="290676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Tỉ Lệ Match Thấp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099322" y="2456408"/>
            <a:ext cx="28232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4.8/10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55402" y="2722811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95002" y="2713286"/>
            <a:ext cx="140731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A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Matched rate: 75.3% (target ≥ 70%)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355402" y="2856161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BF300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95002" y="2846636"/>
            <a:ext cx="106114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A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Unmatched orders: 22 đơn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355402" y="2989511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0052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95002" y="2979986"/>
            <a:ext cx="11017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A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Freshness: 7 ngày gần nhất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253901" y="3544937"/>
            <a:ext cx="4229249" cy="799505"/>
          </a:xfrm>
          <a:prstGeom prst="roundRect">
            <a:avLst>
              <a:gd name="adj" fmla="val 794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253901" y="3544937"/>
            <a:ext cx="4229249" cy="272653"/>
          </a:xfrm>
          <a:prstGeom prst="rect">
            <a:avLst/>
          </a:prstGeom>
          <a:solidFill>
            <a:srgbClr val="0052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116360" y="3624114"/>
            <a:ext cx="290676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CTR &amp; Hook Retention Thấp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099322" y="3624114"/>
            <a:ext cx="28232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4.1/10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55402" y="3890516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0052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95002" y="3880991"/>
            <a:ext cx="123497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A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CTR: 1.48% (avg ngành: 2.1%)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355402" y="4023866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D9770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95002" y="4014341"/>
            <a:ext cx="139243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A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retention: 42% (target ≥ 55%)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355402" y="4157216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BF300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95002" y="4147691"/>
            <a:ext cx="137814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A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Scroll stop rate: 68% (cần A/B test)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4660850" y="1209526"/>
            <a:ext cx="4229249" cy="799505"/>
          </a:xfrm>
          <a:prstGeom prst="roundRect">
            <a:avLst>
              <a:gd name="adj" fmla="val 794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4660850" y="1209526"/>
            <a:ext cx="4229249" cy="272653"/>
          </a:xfrm>
          <a:prstGeom prst="rect">
            <a:avLst/>
          </a:prstGeom>
          <a:solidFill>
            <a:srgbClr val="D9770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5523309" y="1288703"/>
            <a:ext cx="290676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Audience Overlap Cao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8506271" y="1288703"/>
            <a:ext cx="28232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4.1/10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762351" y="1555105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D9770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4901952" y="1545580"/>
            <a:ext cx="150435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A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Audience overlap: 38% (target &lt; 20%)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4762351" y="1688455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4901952" y="1678930"/>
            <a:ext cx="152653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A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 match: 71% đúng độ tuổi mục tiêu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4762351" y="1821805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0052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4901952" y="1812280"/>
            <a:ext cx="90398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A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Interest accuracy: 63%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4660850" y="2377232"/>
            <a:ext cx="4229249" cy="799505"/>
          </a:xfrm>
          <a:prstGeom prst="roundRect">
            <a:avLst>
              <a:gd name="adj" fmla="val 794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4660850" y="2377232"/>
            <a:ext cx="4229249" cy="272653"/>
          </a:xfrm>
          <a:prstGeom prst="rect">
            <a:avLst/>
          </a:prstGeom>
          <a:solidFill>
            <a:srgbClr val="0052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5523309" y="2456408"/>
            <a:ext cx="290676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Ngân Sách Không Cân Bằng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8506271" y="2456408"/>
            <a:ext cx="28232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5.0/10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4762351" y="2722811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4901952" y="2713286"/>
            <a:ext cx="146208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A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utilization: 87% (target 80-95%)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4762351" y="2856161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D9770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4901952" y="2846636"/>
            <a:ext cx="154453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A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Hourly spread: uneven (peaks 9-11AM)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4762351" y="2989511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0052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4901952" y="2979986"/>
            <a:ext cx="184770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A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 balance: camp-1 chiếm 53% budget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4660850" y="3544937"/>
            <a:ext cx="4229249" cy="799505"/>
          </a:xfrm>
          <a:prstGeom prst="roundRect">
            <a:avLst>
              <a:gd name="adj" fmla="val 794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4660850" y="3544937"/>
            <a:ext cx="4229249" cy="272653"/>
          </a:xfrm>
          <a:prstGeom prst="rect">
            <a:avLst/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5153025" y="3624114"/>
            <a:ext cx="327704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FB vs Zalo Performance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8506271" y="3624114"/>
            <a:ext cx="28232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6.2/10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4762351" y="3890516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0052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4901952" y="3880991"/>
            <a:ext cx="161538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A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Facebook ROAS: 3.4x · Revenue: 88.2M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4762351" y="4023866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D9770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4901952" y="4014341"/>
            <a:ext cx="134853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A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Zalo ROAS: 0.9x · Revenue: 4.7M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4762351" y="4157216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BF300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4901952" y="4147691"/>
            <a:ext cx="178817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A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FB vs Zalo ratio: 3.8x — Zalo cần tối ưu UTM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1A21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76200"/>
            <a:ext cx="9144000" cy="727025"/>
          </a:xfrm>
          <a:prstGeom prst="rect">
            <a:avLst/>
          </a:prstGeom>
          <a:solidFill>
            <a:srgbClr val="1A21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55550" y="228600"/>
            <a:ext cx="843289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BF30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NHÓM BỆNH ADS — TRANG 2/2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55550" y="381000"/>
            <a:ext cx="8432899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Nhóm Bệnh Chẩn Đoán (Phần 2) &amp; Tổng Điểm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04800" y="1142851"/>
            <a:ext cx="4998690" cy="799505"/>
          </a:xfrm>
          <a:prstGeom prst="roundRect">
            <a:avLst>
              <a:gd name="adj" fmla="val 794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04800" y="1142851"/>
            <a:ext cx="4998690" cy="272653"/>
          </a:xfrm>
          <a:prstGeom prst="rect">
            <a:avLst/>
          </a:prstGeom>
          <a:solidFill>
            <a:srgbClr val="BF300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71091" y="1222028"/>
            <a:ext cx="397237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Tỉ Lệ Chuyển Đổi Thấp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919663" y="1222028"/>
            <a:ext cx="28232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3.2/10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06301" y="1488430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45902" y="1478905"/>
            <a:ext cx="133707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A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Nóng → Đơn: 38% (target ≥ 50%)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406301" y="1621780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D9770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45902" y="1612255"/>
            <a:ext cx="138127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A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Ấm → Đơn: 12% (cần nuôi dưỡng)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406301" y="1755130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BF300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45902" y="1745605"/>
            <a:ext cx="107096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A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Lạnh → Đơn: 3% (rất thấp)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304800" y="2243882"/>
            <a:ext cx="4998690" cy="799505"/>
          </a:xfrm>
          <a:prstGeom prst="roundRect">
            <a:avLst>
              <a:gd name="adj" fmla="val 794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04800" y="2243882"/>
            <a:ext cx="4998690" cy="272653"/>
          </a:xfrm>
          <a:prstGeom prst="rect">
            <a:avLst/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96975" y="2323058"/>
            <a:ext cx="404648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aiAction = decrease / pause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919663" y="2323058"/>
            <a:ext cx="28232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7.1/10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06301" y="2589461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45902" y="2579936"/>
            <a:ext cx="113377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A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Junk rate: 8% (target &lt; 15%)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406301" y="2722811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0052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45902" y="2713286"/>
            <a:ext cx="126890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A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rate: 84% (target ≥ 80%)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406301" y="2856161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D9770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45902" y="2846636"/>
            <a:ext cx="154602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A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Spam rate: 7% — cần kiểm tra creative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5506641" y="1142851"/>
            <a:ext cx="3332559" cy="1190030"/>
          </a:xfrm>
          <a:prstGeom prst="roundRect">
            <a:avLst>
              <a:gd name="adj" fmla="val 640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633591" y="1374577"/>
            <a:ext cx="26592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ĐIỂM SỨC KHỎE QUẢNG CÁO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394353" y="1307902"/>
            <a:ext cx="31789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5.8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633591" y="1650802"/>
            <a:ext cx="3078659" cy="101501"/>
          </a:xfrm>
          <a:prstGeom prst="roundRect">
            <a:avLst>
              <a:gd name="adj" fmla="val 50049"/>
            </a:avLst>
          </a:prstGeom>
          <a:solidFill>
            <a:srgbClr val="E8ED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633591" y="1650802"/>
            <a:ext cx="1785491" cy="101501"/>
          </a:xfrm>
          <a:prstGeom prst="roundRect">
            <a:avLst>
              <a:gd name="adj" fmla="val 50049"/>
            </a:avLst>
          </a:prstGeom>
          <a:solidFill>
            <a:srgbClr val="BF300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633591" y="1815703"/>
            <a:ext cx="975420" cy="390227"/>
          </a:xfrm>
          <a:prstGeom prst="roundRect">
            <a:avLst>
              <a:gd name="adj" fmla="val 13018"/>
            </a:avLst>
          </a:prstGeom>
          <a:solidFill>
            <a:srgbClr val="FCF8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696992" y="1879104"/>
            <a:ext cx="84861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6B7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Nặng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5696992" y="1999655"/>
            <a:ext cx="84861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F30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685211" y="1815703"/>
            <a:ext cx="975420" cy="390227"/>
          </a:xfrm>
          <a:prstGeom prst="roundRect">
            <a:avLst>
              <a:gd name="adj" fmla="val 13018"/>
            </a:avLst>
          </a:prstGeom>
          <a:solidFill>
            <a:srgbClr val="FCF8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748611" y="1879104"/>
            <a:ext cx="84861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6B7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Trung Bình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6748611" y="1999655"/>
            <a:ext cx="84861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5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736830" y="1815703"/>
            <a:ext cx="975420" cy="390227"/>
          </a:xfrm>
          <a:prstGeom prst="roundRect">
            <a:avLst>
              <a:gd name="adj" fmla="val 13018"/>
            </a:avLst>
          </a:prstGeom>
          <a:solidFill>
            <a:srgbClr val="FCF8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7800231" y="1879104"/>
            <a:ext cx="84861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6B7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Nhẹ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7800231" y="1999655"/>
            <a:ext cx="84861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06641" y="2647057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BF300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5658892" y="2650182"/>
            <a:ext cx="38546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A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0–3 Nặng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6145857" y="2647057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0052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6298109" y="2650182"/>
            <a:ext cx="68193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A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3.1–6 Trung Bình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7081540" y="2647057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7233791" y="2650182"/>
            <a:ext cx="45958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A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6.1–10 Nhẹ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1A21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76200"/>
            <a:ext cx="9144000" cy="727025"/>
          </a:xfrm>
          <a:prstGeom prst="rect">
            <a:avLst/>
          </a:prstGeom>
          <a:solidFill>
            <a:srgbClr val="1A21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55550" y="228600"/>
            <a:ext cx="843289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BF30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· CHI TIẾT BỆNH — TAB DIỄN GIẢI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55550" y="381000"/>
            <a:ext cx="8432899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Bệnh 1: ROAS Thực Thấp Hơn Báo Cáo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53901" y="1120676"/>
            <a:ext cx="4652218" cy="1183630"/>
          </a:xfrm>
          <a:prstGeom prst="roundRect">
            <a:avLst>
              <a:gd name="adj" fmla="val 536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28476" y="1209526"/>
            <a:ext cx="435069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005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CHẨN ĐOÁN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28476" y="1403152"/>
            <a:ext cx="4350693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1A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Chiến dịch "Brand Awareness March" đang báo cáo ROAS 1.8x, nhưng khi đối soát với đơn hàng thực tế (qua SĐT), chỉ 45.2% đơn có thể truy xuất nguồn về chiến dịch này.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28476" y="1717923"/>
            <a:ext cx="4350693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1A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17 đơn (55%) không match với bất kỳ Ads nào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28476" y="1900684"/>
            <a:ext cx="4350693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1A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Tiền chi cho 17 đơn này = "chi phí ảo"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28476" y="2083445"/>
            <a:ext cx="4350693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A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Rủi ro: team đang tăng budget dựa trên ROAS ảo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53901" y="2393156"/>
            <a:ext cx="4652218" cy="767358"/>
          </a:xfrm>
          <a:prstGeom prst="roundRect">
            <a:avLst>
              <a:gd name="adj" fmla="val 827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28476" y="2482007"/>
            <a:ext cx="435069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VẤN ĐỀ NỔI BẬT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28476" y="2675632"/>
            <a:ext cx="4350693" cy="39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1A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Tỉ lệ match chỉ 45.2% — ngưỡng nguy hiểm. Thông thường, tỉ lệ tối thiểu nên đạt 70% để đảm bảo attribution data đáng tin cậy. Đặc biệt nghiêm trọng với Zalo OA — không có Pixel tracking mặc định.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53901" y="3249364"/>
            <a:ext cx="4652218" cy="828526"/>
          </a:xfrm>
          <a:prstGeom prst="roundRect">
            <a:avLst>
              <a:gd name="adj" fmla="val 7664"/>
            </a:avLst>
          </a:prstGeom>
          <a:solidFill>
            <a:srgbClr val="BF300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80851" y="3338215"/>
            <a:ext cx="439831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Bottom Line — Hành Động Ngay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80851" y="3531840"/>
            <a:ext cx="439831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Thêm UTM parameter + Pixel event vào Zalo OA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80851" y="3684240"/>
            <a:ext cx="439831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Track chính xác conversion path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80851" y="3836640"/>
            <a:ext cx="439831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ROAS thực của camp-3 có thể cao hơn nếu đo lường đúng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083820" y="1120676"/>
            <a:ext cx="3806279" cy="780157"/>
          </a:xfrm>
          <a:prstGeom prst="roundRect">
            <a:avLst>
              <a:gd name="adj" fmla="val 813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757267" y="1209377"/>
            <a:ext cx="250075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A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A/B Test 3 Creative Headlines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334226" y="1218902"/>
            <a:ext cx="45437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B7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CTR 25%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5185321" y="1475780"/>
            <a:ext cx="360327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005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pPr algn="l"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1A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Tạo 3 biến thể headline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5185321" y="1596330"/>
            <a:ext cx="360327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005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pPr algn="l"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1A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Chạy test 7 ngày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5185321" y="1716881"/>
            <a:ext cx="360327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005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pPr algn="l"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1A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Chọn winner và scale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5083820" y="1977033"/>
            <a:ext cx="3806279" cy="659606"/>
          </a:xfrm>
          <a:prstGeom prst="roundRect">
            <a:avLst>
              <a:gd name="adj" fmla="val 962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732562" y="2065734"/>
            <a:ext cx="228823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A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Thêm UTM Parameters vào Zalo OA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096994" y="2075259"/>
            <a:ext cx="69160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B7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Match rate 40%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5185321" y="2332137"/>
            <a:ext cx="360327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005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pPr algn="l"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1A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Cấu hình UTM trong Zalo OA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5185321" y="2452688"/>
            <a:ext cx="360327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005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pPr algn="l"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1A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Verify tracking trong 48h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5083820" y="2712839"/>
            <a:ext cx="3806279" cy="659606"/>
          </a:xfrm>
          <a:prstGeom prst="roundRect">
            <a:avLst>
              <a:gd name="adj" fmla="val 962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747445" y="2801541"/>
            <a:ext cx="238199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A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Retargeting Audience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8205639" y="2811066"/>
            <a:ext cx="58296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B7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Overlap 18%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5185321" y="3067943"/>
            <a:ext cx="360327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005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pPr algn="l"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1A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Export audience overlap report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5185321" y="3188494"/>
            <a:ext cx="360327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005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pPr algn="l"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1A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Loại bỏ audience trùng lặp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1A21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76200"/>
            <a:ext cx="9144000" cy="727025"/>
          </a:xfrm>
          <a:prstGeom prst="rect">
            <a:avLst/>
          </a:prstGeom>
          <a:solidFill>
            <a:srgbClr val="1A21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55550" y="228600"/>
            <a:ext cx="843289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BF30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· KIẾN TRÚC KỸ THUẬT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55550" y="381000"/>
            <a:ext cx="8432899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Mới — Reuse từ Track A — localStorage Keys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53901" y="1130201"/>
            <a:ext cx="5063430" cy="272653"/>
          </a:xfrm>
          <a:prstGeom prst="roundRect">
            <a:avLst>
              <a:gd name="adj" fmla="val 2329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104454" y="1209377"/>
            <a:ext cx="330130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A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src/data/mockAttributionData.js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494609" y="1218902"/>
            <a:ext cx="72122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B7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Attribution records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253901" y="1466255"/>
            <a:ext cx="5063430" cy="272653"/>
          </a:xfrm>
          <a:prstGeom prst="roundRect">
            <a:avLst>
              <a:gd name="adj" fmla="val 2329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104454" y="1545431"/>
            <a:ext cx="282669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A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src/lib/adsMedicalService.js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019996" y="1554956"/>
            <a:ext cx="119583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B7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 chẩn đoán 8 nhóm bệnh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253901" y="1802309"/>
            <a:ext cx="5063430" cy="272653"/>
          </a:xfrm>
          <a:prstGeom prst="roundRect">
            <a:avLst>
              <a:gd name="adj" fmla="val 2329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104454" y="1881485"/>
            <a:ext cx="317852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A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src/components/ads/AdsWizardSteps.jsx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371826" y="1891010"/>
            <a:ext cx="84400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B7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4-bước step indicator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253901" y="2138363"/>
            <a:ext cx="5063430" cy="272653"/>
          </a:xfrm>
          <a:prstGeom prst="roundRect">
            <a:avLst>
              <a:gd name="adj" fmla="val 2329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104454" y="2217539"/>
            <a:ext cx="297522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A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src/components/ads/AdsMedicalDashboard.jsx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168527" y="2227064"/>
            <a:ext cx="104730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B7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wrapper 2 tabs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253901" y="2474416"/>
            <a:ext cx="5063430" cy="272653"/>
          </a:xfrm>
          <a:prstGeom prst="roundRect">
            <a:avLst>
              <a:gd name="adj" fmla="val 2329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104454" y="2553593"/>
            <a:ext cx="306913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A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src/components/ads/AdsDiseaseCard.jsx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262438" y="2563118"/>
            <a:ext cx="95339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B7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Disease card 3 tabs con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253901" y="2810470"/>
            <a:ext cx="5063430" cy="272653"/>
          </a:xfrm>
          <a:prstGeom prst="roundRect">
            <a:avLst>
              <a:gd name="adj" fmla="val 2329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104454" y="2889647"/>
            <a:ext cx="276239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A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src/components/ads/AttributionFunnel.jsx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955703" y="2899172"/>
            <a:ext cx="126012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B7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Adapted từ ConversationFunnel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253901" y="3146524"/>
            <a:ext cx="5063430" cy="317302"/>
          </a:xfrm>
          <a:prstGeom prst="roundRect">
            <a:avLst>
              <a:gd name="adj" fmla="val 2001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1104454" y="3248025"/>
            <a:ext cx="282713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A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src/components/ads/AdsSmaxRecommendationsPanel.jsx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020443" y="3209925"/>
            <a:ext cx="11953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B7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 từ SmaxRecommendationsPanel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5495032" y="1130201"/>
            <a:ext cx="3395067" cy="609154"/>
          </a:xfrm>
          <a:prstGeom prst="roundRect">
            <a:avLst>
              <a:gd name="adj" fmla="val 10424"/>
            </a:avLst>
          </a:prstGeom>
          <a:solidFill>
            <a:srgbClr val="1A21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621982" y="1231702"/>
            <a:ext cx="314116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BF30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smax_ads_medical_records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621982" y="1396752"/>
            <a:ext cx="314116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Lưu kết quả khám Ads (id, date, campaigns, healthScore)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5621982" y="1517303"/>
            <a:ext cx="314116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getAdsMedicalHistory() → array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5495032" y="1828205"/>
            <a:ext cx="3395067" cy="488603"/>
          </a:xfrm>
          <a:prstGeom prst="roundRect">
            <a:avLst>
              <a:gd name="adj" fmla="val 12996"/>
            </a:avLst>
          </a:prstGeom>
          <a:solidFill>
            <a:srgbClr val="1A21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621982" y="1929705"/>
            <a:ext cx="314116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BF30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smax_ads_saved_actions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621982" y="2094756"/>
            <a:ext cx="314116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Lưu actions đã chọn (riêng Ads)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5495032" y="2405658"/>
            <a:ext cx="3395067" cy="488603"/>
          </a:xfrm>
          <a:prstGeom prst="roundRect">
            <a:avLst>
              <a:gd name="adj" fmla="val 12996"/>
            </a:avLst>
          </a:prstGeom>
          <a:solidFill>
            <a:srgbClr val="1A21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5621982" y="2507159"/>
            <a:ext cx="314116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BF30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smax-ads-rec-{diseaseId}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621982" y="2672209"/>
            <a:ext cx="314116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Smax AI cache — 24h TTL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5495032" y="2983111"/>
            <a:ext cx="339506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1A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CẦN SỬA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495032" y="3135511"/>
            <a:ext cx="3395067" cy="387251"/>
          </a:xfrm>
          <a:prstGeom prst="roundRect">
            <a:avLst>
              <a:gd name="adj" fmla="val 1639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5634633" y="3211711"/>
            <a:ext cx="315396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1A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MedicalCheckup.jsx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634633" y="3351312"/>
            <a:ext cx="315396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B7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Thêm state adsTab, adsStep, adsConfig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5495032" y="3586163"/>
            <a:ext cx="3395067" cy="387251"/>
          </a:xfrm>
          <a:prstGeom prst="roundRect">
            <a:avLst>
              <a:gd name="adj" fmla="val 1639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5634633" y="3662362"/>
            <a:ext cx="315396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1A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Sidebar.jsx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634633" y="3801963"/>
            <a:ext cx="315396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B7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 "Khám Bệnh" → thêm badge Ads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5495032" y="4036814"/>
            <a:ext cx="3395067" cy="387251"/>
          </a:xfrm>
          <a:prstGeom prst="roundRect">
            <a:avLst>
              <a:gd name="adj" fmla="val 1639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5634633" y="4113014"/>
            <a:ext cx="315396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1A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smaxAIService.js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634633" y="4252615"/>
            <a:ext cx="315396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B7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Gọi lại với Ads-specific prompts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1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57017" y="1782812"/>
            <a:ext cx="162996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Luận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2144911" y="2338388"/>
            <a:ext cx="485417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400"/>
              </a:spcAft>
              <a:buNone/>
            </a:pPr>
            <a:r>
              <a:rPr lang="en-US" sz="1200" dirty="0">
                <a:solidFill>
                  <a:srgbClr val="8BA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Ads Medical Checkup — Core Loop Gamification cho mọi doanh nghiệp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254550" y="2814638"/>
            <a:ext cx="634901" cy="38100"/>
          </a:xfrm>
          <a:prstGeom prst="rect">
            <a:avLst/>
          </a:prstGeom>
          <a:solidFill>
            <a:srgbClr val="BF300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222450" y="3106638"/>
            <a:ext cx="81289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F30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222450" y="3430488"/>
            <a:ext cx="8128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NHÓM BỆNH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390900" y="3106638"/>
            <a:ext cx="100979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F30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390900" y="3430488"/>
            <a:ext cx="10097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WIZARD STEPS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756249" y="3106638"/>
            <a:ext cx="103316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F30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5.8/10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756249" y="3430488"/>
            <a:ext cx="10331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SCORE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144964" y="3106638"/>
            <a:ext cx="77658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F30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39.3M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144964" y="3430488"/>
            <a:ext cx="7765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 PHÍ ẢO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629495" y="3817739"/>
            <a:ext cx="388486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Smax AI · Editorial Precision Design · React 19 + Vite + Tailwind v4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0" y="5067300"/>
            <a:ext cx="9144000" cy="76200"/>
          </a:xfrm>
          <a:prstGeom prst="rect">
            <a:avLst/>
          </a:prstGeom>
          <a:solidFill>
            <a:srgbClr val="BF300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PRD: Khám Bệnh Quảng Cáo</dc:title>
  <dc:subject>PptxGenJS Presentation</dc:subject>
  <dc:creator>Smax AI</dc:creator>
  <cp:lastModifiedBy>Smax AI</cp:lastModifiedBy>
  <cp:revision>1</cp:revision>
  <dcterms:created xsi:type="dcterms:W3CDTF">2026-03-29T04:56:27Z</dcterms:created>
  <dcterms:modified xsi:type="dcterms:W3CDTF">2026-03-29T04:56:27Z</dcterms:modified>
</cp:coreProperties>
</file>